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4_7AB8866F.xml" ContentType="application/vnd.ms-powerpoint.comments+xml"/>
  <Override PartName="/ppt/comments/modernComment_10C_AF8D7DE1.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8" r:id="rId5"/>
    <p:sldId id="257" r:id="rId6"/>
    <p:sldId id="256" r:id="rId7"/>
    <p:sldId id="259" r:id="rId8"/>
    <p:sldId id="260" r:id="rId9"/>
    <p:sldId id="261" r:id="rId10"/>
    <p:sldId id="262" r:id="rId11"/>
    <p:sldId id="263" r:id="rId12"/>
    <p:sldId id="265" r:id="rId13"/>
    <p:sldId id="264" r:id="rId14"/>
    <p:sldId id="266" r:id="rId15"/>
    <p:sldId id="267" r:id="rId16"/>
    <p:sldId id="268" r:id="rId17"/>
    <p:sldId id="269" r:id="rId18"/>
    <p:sldId id="270"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CA6AA8B-A0E8-DCEB-0CDF-7BD80364DF05}" name="Asim Memon" initials="AM" userId="S::asim.memon@slscorp.com::a6713869-815a-4226-9a7d-15e886922cf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A213F"/>
    <a:srgbClr val="2E2E2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161ACF-80E4-FF66-0BEF-3FEBA2AB8380}" v="1" dt="2024-04-10T09:13:15.0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omments/modernComment_10C_AF8D7DE1.xml><?xml version="1.0" encoding="utf-8"?>
<p188:cmLst xmlns:a="http://schemas.openxmlformats.org/drawingml/2006/main" xmlns:r="http://schemas.openxmlformats.org/officeDocument/2006/relationships" xmlns:p188="http://schemas.microsoft.com/office/powerpoint/2018/8/main">
  <p188:cm id="{E2904ABA-A89E-4547-B7C3-44D9254E5308}" authorId="{ECA6AA8B-A0E8-DCEB-0CDF-7BD80364DF05}" created="2023-04-03T09:37:07.627">
    <ac:deMkLst xmlns:ac="http://schemas.microsoft.com/office/drawing/2013/main/command">
      <pc:docMk xmlns:pc="http://schemas.microsoft.com/office/powerpoint/2013/main/command"/>
      <pc:sldMk xmlns:pc="http://schemas.microsoft.com/office/powerpoint/2013/main/command" cId="2945285601" sldId="268"/>
      <ac:picMk id="4" creationId="{93B18FCC-26D8-88E5-8555-DE2C8343EB29}"/>
    </ac:deMkLst>
    <p188:txBody>
      <a:bodyPr/>
      <a:lstStyle/>
      <a:p>
        <a:r>
          <a:rPr lang="en-US"/>
          <a:t>Dummy content. Need Intro, Features and Ecosystem Layout of NMS.</a:t>
        </a:r>
      </a:p>
    </p188:txBody>
  </p188:cm>
</p188:cmLst>
</file>

<file path=ppt/comments/modernComment_104_7AB8866F.xml><?xml version="1.0" encoding="utf-8"?>
<p188:cmLst xmlns:a="http://schemas.openxmlformats.org/drawingml/2006/main" xmlns:r="http://schemas.openxmlformats.org/officeDocument/2006/relationships" xmlns:p188="http://schemas.microsoft.com/office/powerpoint/2018/8/main">
  <p188:cm id="{38EDD5D3-3F83-4E4B-B941-D6F204FCCEE7}" authorId="{ECA6AA8B-A0E8-DCEB-0CDF-7BD80364DF05}" status="resolved" created="2023-04-03T09:36:22.938" complete="100000">
    <ac:deMkLst xmlns:ac="http://schemas.microsoft.com/office/drawing/2013/main/command">
      <pc:docMk xmlns:pc="http://schemas.microsoft.com/office/powerpoint/2013/main/command"/>
      <pc:sldMk xmlns:pc="http://schemas.microsoft.com/office/powerpoint/2013/main/command" cId="2058913391" sldId="260"/>
      <ac:picMk id="4" creationId="{93B18FCC-26D8-88E5-8555-DE2C8343EB29}"/>
    </ac:deMkLst>
    <p188:txBody>
      <a:bodyPr/>
      <a:lstStyle/>
      <a:p>
        <a:r>
          <a:rPr lang="en-US"/>
          <a:t>AMI Ecosystem is yet to be replaced.</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microsoft.com/office/2018/10/relationships/comments" Target="../comments/modernComment_104_7AB8866F.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microsoft.com/office/2018/10/relationships/comments" Target="../comments/modernComment_10C_AF8D7DE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picture containing text, sign&#10;&#10;Description automatically generated">
            <a:extLst>
              <a:ext uri="{FF2B5EF4-FFF2-40B4-BE49-F238E27FC236}">
                <a16:creationId xmlns:a16="http://schemas.microsoft.com/office/drawing/2014/main" id="{64C00AE9-68A5-BBA8-AF7B-42539177EFC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33680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text&#10;&#10;Description automatically generated">
            <a:extLst>
              <a:ext uri="{FF2B5EF4-FFF2-40B4-BE49-F238E27FC236}">
                <a16:creationId xmlns:a16="http://schemas.microsoft.com/office/drawing/2014/main" id="{93B18FCC-26D8-88E5-8555-DE2C8343EB29}"/>
              </a:ext>
            </a:extLst>
          </p:cNvPr>
          <p:cNvPicPr>
            <a:picLocks noChangeAspect="1"/>
          </p:cNvPicPr>
          <p:nvPr/>
        </p:nvPicPr>
        <p:blipFill>
          <a:blip r:embed="rId2"/>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B6D2B58D-DC3B-76CE-A0D9-86EC0DA73645}"/>
              </a:ext>
            </a:extLst>
          </p:cNvPr>
          <p:cNvSpPr txBox="1"/>
          <p:nvPr/>
        </p:nvSpPr>
        <p:spPr>
          <a:xfrm>
            <a:off x="600075" y="266700"/>
            <a:ext cx="2143125" cy="553998"/>
          </a:xfrm>
          <a:prstGeom prst="rect">
            <a:avLst/>
          </a:prstGeom>
          <a:solidFill>
            <a:srgbClr val="2E2E2E"/>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solidFill>
                  <a:srgbClr val="FFFFFF"/>
                </a:solidFill>
                <a:latin typeface="Poppins"/>
                <a:cs typeface="Calibri"/>
              </a:rPr>
              <a:t>About </a:t>
            </a:r>
            <a:r>
              <a:rPr lang="en-US" sz="3000" dirty="0">
                <a:solidFill>
                  <a:srgbClr val="EA213F"/>
                </a:solidFill>
                <a:latin typeface="Poppins"/>
                <a:cs typeface="Calibri"/>
              </a:rPr>
              <a:t>SLS</a:t>
            </a:r>
            <a:endParaRPr lang="en-US" sz="3000" dirty="0">
              <a:solidFill>
                <a:srgbClr val="EA213F"/>
              </a:solidFill>
              <a:latin typeface="Poppins"/>
              <a:cs typeface="Poppins"/>
            </a:endParaRPr>
          </a:p>
        </p:txBody>
      </p:sp>
      <p:sp>
        <p:nvSpPr>
          <p:cNvPr id="3" name="TextBox 1">
            <a:extLst>
              <a:ext uri="{FF2B5EF4-FFF2-40B4-BE49-F238E27FC236}">
                <a16:creationId xmlns:a16="http://schemas.microsoft.com/office/drawing/2014/main" id="{47078C4C-1830-ABA8-9ECC-5925F8D3B8F9}"/>
              </a:ext>
            </a:extLst>
          </p:cNvPr>
          <p:cNvSpPr txBox="1"/>
          <p:nvPr/>
        </p:nvSpPr>
        <p:spPr>
          <a:xfrm>
            <a:off x="948082" y="1416788"/>
            <a:ext cx="2959823" cy="553998"/>
          </a:xfrm>
          <a:prstGeom prst="rect">
            <a:avLst/>
          </a:prstGeom>
          <a:solidFill>
            <a:srgbClr val="EA213F"/>
          </a:solidFill>
          <a:ln w="6350">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500" dirty="0">
                <a:solidFill>
                  <a:srgbClr val="FFFFFF"/>
                </a:solidFill>
                <a:latin typeface="Poppins"/>
                <a:ea typeface="+mn-lt"/>
                <a:cs typeface="Poppins"/>
              </a:rPr>
              <a:t>We are a </a:t>
            </a:r>
            <a:endParaRPr lang="en-US" sz="1500" dirty="0">
              <a:solidFill>
                <a:srgbClr val="FFFFFF"/>
              </a:solidFill>
              <a:latin typeface="Poppins"/>
              <a:ea typeface="+mn-lt"/>
              <a:cs typeface="+mn-lt"/>
            </a:endParaRPr>
          </a:p>
          <a:p>
            <a:r>
              <a:rPr lang="en-US" sz="1500" dirty="0">
                <a:solidFill>
                  <a:srgbClr val="FFFFFF"/>
                </a:solidFill>
                <a:latin typeface="Poppins"/>
                <a:ea typeface="+mn-lt"/>
                <a:cs typeface="+mn-lt"/>
              </a:rPr>
              <a:t>Product &amp; Service Company</a:t>
            </a:r>
            <a:endParaRPr lang="en-US" sz="1500" dirty="0">
              <a:solidFill>
                <a:srgbClr val="FFFFFF"/>
              </a:solidFill>
              <a:latin typeface="Poppins"/>
              <a:cs typeface="Calibri"/>
            </a:endParaRPr>
          </a:p>
        </p:txBody>
      </p:sp>
      <p:sp>
        <p:nvSpPr>
          <p:cNvPr id="5" name="TextBox 2">
            <a:extLst>
              <a:ext uri="{FF2B5EF4-FFF2-40B4-BE49-F238E27FC236}">
                <a16:creationId xmlns:a16="http://schemas.microsoft.com/office/drawing/2014/main" id="{A8A74804-5793-AA00-DE40-A50B5BFB0E4A}"/>
              </a:ext>
            </a:extLst>
          </p:cNvPr>
          <p:cNvSpPr txBox="1"/>
          <p:nvPr/>
        </p:nvSpPr>
        <p:spPr>
          <a:xfrm>
            <a:off x="4741530" y="1416787"/>
            <a:ext cx="2638071" cy="553998"/>
          </a:xfrm>
          <a:prstGeom prst="rect">
            <a:avLst/>
          </a:prstGeom>
          <a:solidFill>
            <a:srgbClr val="EA213F"/>
          </a:solidFill>
          <a:ln w="6350">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500">
                <a:solidFill>
                  <a:srgbClr val="FFFFFF"/>
                </a:solidFill>
                <a:latin typeface="Poppins"/>
                <a:ea typeface="+mn-lt"/>
                <a:cs typeface="Poppins"/>
              </a:rPr>
              <a:t>Into</a:t>
            </a:r>
          </a:p>
          <a:p>
            <a:r>
              <a:rPr lang="en-US" sz="1500">
                <a:solidFill>
                  <a:srgbClr val="FFFFFF"/>
                </a:solidFill>
                <a:latin typeface="Poppins"/>
                <a:ea typeface="+mn-lt"/>
                <a:cs typeface="Poppins"/>
              </a:rPr>
              <a:t>Hardware and Software</a:t>
            </a:r>
          </a:p>
        </p:txBody>
      </p:sp>
      <p:sp>
        <p:nvSpPr>
          <p:cNvPr id="6" name="TextBox 3">
            <a:extLst>
              <a:ext uri="{FF2B5EF4-FFF2-40B4-BE49-F238E27FC236}">
                <a16:creationId xmlns:a16="http://schemas.microsoft.com/office/drawing/2014/main" id="{5C54B6C8-C28B-CE1F-71DF-977117E6C564}"/>
              </a:ext>
            </a:extLst>
          </p:cNvPr>
          <p:cNvSpPr txBox="1"/>
          <p:nvPr/>
        </p:nvSpPr>
        <p:spPr>
          <a:xfrm>
            <a:off x="8220394" y="1416786"/>
            <a:ext cx="2784855" cy="553998"/>
          </a:xfrm>
          <a:prstGeom prst="rect">
            <a:avLst/>
          </a:prstGeom>
          <a:solidFill>
            <a:srgbClr val="EA213F"/>
          </a:solidFill>
          <a:ln w="6350">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500">
                <a:solidFill>
                  <a:srgbClr val="FFFFFF"/>
                </a:solidFill>
                <a:latin typeface="Poppins"/>
                <a:ea typeface="+mn-lt"/>
                <a:cs typeface="Poppins"/>
              </a:rPr>
              <a:t>Established as a</a:t>
            </a:r>
          </a:p>
          <a:p>
            <a:r>
              <a:rPr lang="en-US" sz="1500">
                <a:solidFill>
                  <a:srgbClr val="FFFFFF"/>
                </a:solidFill>
                <a:latin typeface="Poppins"/>
                <a:ea typeface="+mn-lt"/>
                <a:cs typeface="Poppins"/>
              </a:rPr>
              <a:t>Turnkey Solution Provider</a:t>
            </a:r>
          </a:p>
        </p:txBody>
      </p:sp>
      <p:sp>
        <p:nvSpPr>
          <p:cNvPr id="7" name="TextBox 1">
            <a:extLst>
              <a:ext uri="{FF2B5EF4-FFF2-40B4-BE49-F238E27FC236}">
                <a16:creationId xmlns:a16="http://schemas.microsoft.com/office/drawing/2014/main" id="{0B3365AF-7BB5-A56F-9C3B-79547971EA4D}"/>
              </a:ext>
            </a:extLst>
          </p:cNvPr>
          <p:cNvSpPr txBox="1"/>
          <p:nvPr/>
        </p:nvSpPr>
        <p:spPr>
          <a:xfrm>
            <a:off x="1496455" y="2773768"/>
            <a:ext cx="851200" cy="4001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solidFill>
                  <a:schemeClr val="bg1"/>
                </a:solidFill>
                <a:latin typeface="Poppins"/>
                <a:cs typeface="Calibri"/>
              </a:rPr>
              <a:t>100 +</a:t>
            </a:r>
          </a:p>
        </p:txBody>
      </p:sp>
      <p:sp>
        <p:nvSpPr>
          <p:cNvPr id="8" name="TextBox 2">
            <a:extLst>
              <a:ext uri="{FF2B5EF4-FFF2-40B4-BE49-F238E27FC236}">
                <a16:creationId xmlns:a16="http://schemas.microsoft.com/office/drawing/2014/main" id="{4A4684E4-820B-0761-5383-5E2F077D972F}"/>
              </a:ext>
            </a:extLst>
          </p:cNvPr>
          <p:cNvSpPr txBox="1"/>
          <p:nvPr/>
        </p:nvSpPr>
        <p:spPr>
          <a:xfrm>
            <a:off x="5653494" y="2773768"/>
            <a:ext cx="896002" cy="4001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solidFill>
                  <a:schemeClr val="bg1"/>
                </a:solidFill>
                <a:latin typeface="Poppins"/>
                <a:cs typeface="Calibri"/>
              </a:rPr>
              <a:t>300 +</a:t>
            </a:r>
          </a:p>
        </p:txBody>
      </p:sp>
      <p:sp>
        <p:nvSpPr>
          <p:cNvPr id="9" name="TextBox 3">
            <a:extLst>
              <a:ext uri="{FF2B5EF4-FFF2-40B4-BE49-F238E27FC236}">
                <a16:creationId xmlns:a16="http://schemas.microsoft.com/office/drawing/2014/main" id="{1FE6042A-B11F-5834-A2FF-9259C5B05597}"/>
              </a:ext>
            </a:extLst>
          </p:cNvPr>
          <p:cNvSpPr txBox="1"/>
          <p:nvPr/>
        </p:nvSpPr>
        <p:spPr>
          <a:xfrm>
            <a:off x="9962718" y="2773768"/>
            <a:ext cx="668026" cy="4001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solidFill>
                  <a:schemeClr val="bg1"/>
                </a:solidFill>
                <a:latin typeface="Poppins"/>
                <a:cs typeface="Calibri"/>
              </a:rPr>
              <a:t>21 +</a:t>
            </a:r>
            <a:endParaRPr lang="en-US" sz="2000" b="1">
              <a:solidFill>
                <a:schemeClr val="bg1"/>
              </a:solidFill>
              <a:latin typeface="Poppins"/>
              <a:cs typeface="Poppins"/>
            </a:endParaRPr>
          </a:p>
        </p:txBody>
      </p:sp>
      <p:sp>
        <p:nvSpPr>
          <p:cNvPr id="10" name="TextBox 4">
            <a:extLst>
              <a:ext uri="{FF2B5EF4-FFF2-40B4-BE49-F238E27FC236}">
                <a16:creationId xmlns:a16="http://schemas.microsoft.com/office/drawing/2014/main" id="{BEFE9A2F-3B5A-358E-4D8C-8A06B786F9AA}"/>
              </a:ext>
            </a:extLst>
          </p:cNvPr>
          <p:cNvSpPr txBox="1"/>
          <p:nvPr/>
        </p:nvSpPr>
        <p:spPr>
          <a:xfrm>
            <a:off x="763914" y="3748132"/>
            <a:ext cx="2312579"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a:solidFill>
                  <a:srgbClr val="FFFFFF"/>
                </a:solidFill>
                <a:latin typeface="Poppins"/>
                <a:ea typeface="+mn-lt"/>
                <a:cs typeface="+mn-lt"/>
              </a:rPr>
              <a:t>Active projects across the globe</a:t>
            </a:r>
            <a:endParaRPr lang="en-US" sz="2000">
              <a:solidFill>
                <a:srgbClr val="FFFFFF"/>
              </a:solidFill>
              <a:latin typeface="Poppins"/>
              <a:cs typeface="Poppins"/>
            </a:endParaRPr>
          </a:p>
        </p:txBody>
      </p:sp>
      <p:sp>
        <p:nvSpPr>
          <p:cNvPr id="11" name="TextBox 5">
            <a:extLst>
              <a:ext uri="{FF2B5EF4-FFF2-40B4-BE49-F238E27FC236}">
                <a16:creationId xmlns:a16="http://schemas.microsoft.com/office/drawing/2014/main" id="{8D9CC35F-1E13-326D-C982-4E4F8D0E073E}"/>
              </a:ext>
            </a:extLst>
          </p:cNvPr>
          <p:cNvSpPr txBox="1"/>
          <p:nvPr/>
        </p:nvSpPr>
        <p:spPr>
          <a:xfrm>
            <a:off x="5130429" y="3751269"/>
            <a:ext cx="1931580"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a:solidFill>
                  <a:srgbClr val="FFFFFF"/>
                </a:solidFill>
                <a:latin typeface="Poppins"/>
                <a:ea typeface="+mn-lt"/>
                <a:cs typeface="+mn-lt"/>
              </a:rPr>
              <a:t>In-house staff </a:t>
            </a:r>
            <a:endParaRPr lang="en-US" sz="2000">
              <a:solidFill>
                <a:srgbClr val="FFFFFF"/>
              </a:solidFill>
              <a:latin typeface="Poppins"/>
              <a:cs typeface="Poppins"/>
            </a:endParaRPr>
          </a:p>
        </p:txBody>
      </p:sp>
      <p:sp>
        <p:nvSpPr>
          <p:cNvPr id="12" name="TextBox 6">
            <a:extLst>
              <a:ext uri="{FF2B5EF4-FFF2-40B4-BE49-F238E27FC236}">
                <a16:creationId xmlns:a16="http://schemas.microsoft.com/office/drawing/2014/main" id="{FEF0B38D-6AE8-5B40-76F9-C55299062DF0}"/>
              </a:ext>
            </a:extLst>
          </p:cNvPr>
          <p:cNvSpPr txBox="1"/>
          <p:nvPr/>
        </p:nvSpPr>
        <p:spPr>
          <a:xfrm>
            <a:off x="9303696" y="3748132"/>
            <a:ext cx="1931580"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a:solidFill>
                  <a:srgbClr val="FFFFFF"/>
                </a:solidFill>
                <a:latin typeface="Poppins"/>
                <a:ea typeface="+mn-lt"/>
                <a:cs typeface="+mn-lt"/>
              </a:rPr>
              <a:t>Years and counting</a:t>
            </a:r>
            <a:endParaRPr lang="en-US" sz="2000">
              <a:solidFill>
                <a:srgbClr val="FFFFFF"/>
              </a:solidFill>
              <a:latin typeface="Poppins"/>
              <a:cs typeface="Poppins"/>
            </a:endParaRPr>
          </a:p>
        </p:txBody>
      </p:sp>
      <p:sp>
        <p:nvSpPr>
          <p:cNvPr id="13" name="TextBox 1">
            <a:extLst>
              <a:ext uri="{FF2B5EF4-FFF2-40B4-BE49-F238E27FC236}">
                <a16:creationId xmlns:a16="http://schemas.microsoft.com/office/drawing/2014/main" id="{7A64AA3D-223C-190B-9926-8E944164735F}"/>
              </a:ext>
            </a:extLst>
          </p:cNvPr>
          <p:cNvSpPr txBox="1"/>
          <p:nvPr/>
        </p:nvSpPr>
        <p:spPr>
          <a:xfrm>
            <a:off x="477799" y="5343524"/>
            <a:ext cx="6060556" cy="124649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500">
                <a:solidFill>
                  <a:srgbClr val="FFFFFF"/>
                </a:solidFill>
                <a:latin typeface="Poppins"/>
                <a:ea typeface="+mn-lt"/>
                <a:cs typeface="+mn-lt"/>
              </a:rPr>
              <a:t>Operating Basis: India, UK, USA</a:t>
            </a:r>
          </a:p>
          <a:p>
            <a:pPr marL="285750" indent="-285750">
              <a:buFont typeface="Arial" panose="020B0604020202020204" pitchFamily="34" charset="0"/>
              <a:buChar char="•"/>
            </a:pPr>
            <a:r>
              <a:rPr lang="en-US" sz="1500">
                <a:solidFill>
                  <a:srgbClr val="FFFFFF"/>
                </a:solidFill>
                <a:latin typeface="Poppins"/>
                <a:cs typeface="Calibri" panose="020F0502020204030204"/>
              </a:rPr>
              <a:t>No. Of Business Verticals: 7 +</a:t>
            </a:r>
          </a:p>
          <a:p>
            <a:pPr marL="285750" indent="-285750">
              <a:buFont typeface="Arial" panose="020B0604020202020204" pitchFamily="34" charset="0"/>
              <a:buChar char="•"/>
            </a:pPr>
            <a:r>
              <a:rPr lang="en-US" sz="1500">
                <a:solidFill>
                  <a:srgbClr val="FFFFFF"/>
                </a:solidFill>
                <a:latin typeface="Poppins"/>
                <a:cs typeface="Calibri" panose="020F0502020204030204"/>
              </a:rPr>
              <a:t>No. Of Manufacturing Plants: 2</a:t>
            </a:r>
          </a:p>
          <a:p>
            <a:pPr marL="285750" indent="-285750">
              <a:buFont typeface="Arial" panose="020B0604020202020204" pitchFamily="34" charset="0"/>
              <a:buChar char="•"/>
            </a:pPr>
            <a:r>
              <a:rPr lang="en-US" sz="1500">
                <a:solidFill>
                  <a:srgbClr val="FFFFFF"/>
                </a:solidFill>
                <a:latin typeface="Poppins"/>
                <a:cs typeface="Calibri" panose="020F0502020204030204"/>
              </a:rPr>
              <a:t>In-House Design &amp; Manufacturing capability</a:t>
            </a:r>
          </a:p>
          <a:p>
            <a:pPr marL="285750" indent="-285750">
              <a:buFont typeface="Arial" panose="020B0604020202020204" pitchFamily="34" charset="0"/>
              <a:buChar char="•"/>
            </a:pPr>
            <a:r>
              <a:rPr lang="en-US" sz="1500">
                <a:solidFill>
                  <a:srgbClr val="FFFFFF"/>
                </a:solidFill>
                <a:latin typeface="Poppins"/>
                <a:cs typeface="Calibri" panose="020F0502020204030204"/>
              </a:rPr>
              <a:t>Part of Make-in-India Initiative</a:t>
            </a:r>
          </a:p>
        </p:txBody>
      </p:sp>
    </p:spTree>
    <p:extLst>
      <p:ext uri="{BB962C8B-B14F-4D97-AF65-F5344CB8AC3E}">
        <p14:creationId xmlns:p14="http://schemas.microsoft.com/office/powerpoint/2010/main" val="2874259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text&#10;&#10;Description automatically generated">
            <a:extLst>
              <a:ext uri="{FF2B5EF4-FFF2-40B4-BE49-F238E27FC236}">
                <a16:creationId xmlns:a16="http://schemas.microsoft.com/office/drawing/2014/main" id="{93B18FCC-26D8-88E5-8555-DE2C8343EB29}"/>
              </a:ext>
            </a:extLst>
          </p:cNvPr>
          <p:cNvPicPr>
            <a:picLocks noChangeAspect="1"/>
          </p:cNvPicPr>
          <p:nvPr/>
        </p:nvPicPr>
        <p:blipFill>
          <a:blip r:embed="rId2"/>
          <a:stretch>
            <a:fillRect/>
          </a:stretch>
        </p:blipFill>
        <p:spPr>
          <a:xfrm>
            <a:off x="0" y="0"/>
            <a:ext cx="12192000" cy="6858000"/>
          </a:xfrm>
          <a:prstGeom prst="rect">
            <a:avLst/>
          </a:prstGeom>
        </p:spPr>
      </p:pic>
      <p:pic>
        <p:nvPicPr>
          <p:cNvPr id="2" name="Picture 1" descr="A picture containing text, indoor&#10;&#10;Description automatically generated">
            <a:extLst>
              <a:ext uri="{FF2B5EF4-FFF2-40B4-BE49-F238E27FC236}">
                <a16:creationId xmlns:a16="http://schemas.microsoft.com/office/drawing/2014/main" id="{2544FBEE-3A72-3BF0-3A0F-95271330B6BE}"/>
              </a:ext>
            </a:extLst>
          </p:cNvPr>
          <p:cNvPicPr>
            <a:picLocks noChangeAspect="1"/>
          </p:cNvPicPr>
          <p:nvPr/>
        </p:nvPicPr>
        <p:blipFill>
          <a:blip r:embed="rId3"/>
          <a:stretch>
            <a:fillRect/>
          </a:stretch>
        </p:blipFill>
        <p:spPr>
          <a:xfrm>
            <a:off x="668965" y="3383369"/>
            <a:ext cx="2743200" cy="1828800"/>
          </a:xfrm>
          <a:prstGeom prst="rect">
            <a:avLst/>
          </a:prstGeom>
          <a:ln w="28575" cap="sq">
            <a:solidFill>
              <a:srgbClr val="EA213F"/>
            </a:solidFill>
            <a:prstDash val="solid"/>
            <a:miter lim="800000"/>
          </a:ln>
          <a:effectLst>
            <a:outerShdw blurRad="50800" dist="38100" dir="2700000" algn="tl" rotWithShape="0">
              <a:srgbClr val="000000">
                <a:alpha val="43000"/>
              </a:srgbClr>
            </a:outerShdw>
          </a:effectLst>
        </p:spPr>
      </p:pic>
      <p:pic>
        <p:nvPicPr>
          <p:cNvPr id="3" name="Picture 2" descr="A picture containing indoor, cluttered&#10;&#10;Description automatically generated">
            <a:extLst>
              <a:ext uri="{FF2B5EF4-FFF2-40B4-BE49-F238E27FC236}">
                <a16:creationId xmlns:a16="http://schemas.microsoft.com/office/drawing/2014/main" id="{F69F76BA-3A9F-CA75-6AAB-5D4B95E6DA8F}"/>
              </a:ext>
            </a:extLst>
          </p:cNvPr>
          <p:cNvPicPr>
            <a:picLocks noChangeAspect="1"/>
          </p:cNvPicPr>
          <p:nvPr/>
        </p:nvPicPr>
        <p:blipFill>
          <a:blip r:embed="rId4"/>
          <a:stretch>
            <a:fillRect/>
          </a:stretch>
        </p:blipFill>
        <p:spPr>
          <a:xfrm>
            <a:off x="4041258" y="3315114"/>
            <a:ext cx="2743200" cy="1963979"/>
          </a:xfrm>
          <a:prstGeom prst="rect">
            <a:avLst/>
          </a:prstGeom>
          <a:ln w="28575" cap="sq">
            <a:solidFill>
              <a:srgbClr val="EA213F"/>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2835631A-9479-F3FA-DB45-DD6E2B7D87FD}"/>
              </a:ext>
            </a:extLst>
          </p:cNvPr>
          <p:cNvPicPr>
            <a:picLocks noChangeAspect="1"/>
          </p:cNvPicPr>
          <p:nvPr/>
        </p:nvPicPr>
        <p:blipFill>
          <a:blip r:embed="rId5"/>
          <a:stretch>
            <a:fillRect/>
          </a:stretch>
        </p:blipFill>
        <p:spPr>
          <a:xfrm>
            <a:off x="7410893" y="3316147"/>
            <a:ext cx="2743200" cy="1961914"/>
          </a:xfrm>
          <a:prstGeom prst="rect">
            <a:avLst/>
          </a:prstGeom>
          <a:ln w="28575" cap="sq">
            <a:solidFill>
              <a:srgbClr val="EA213F"/>
            </a:solidFill>
            <a:prstDash val="solid"/>
            <a:miter lim="800000"/>
          </a:ln>
          <a:effectLst>
            <a:outerShdw blurRad="50800" dist="38100" dir="2700000" algn="tl" rotWithShape="0">
              <a:srgbClr val="000000">
                <a:alpha val="43000"/>
              </a:srgbClr>
            </a:outerShdw>
          </a:effectLst>
        </p:spPr>
      </p:pic>
      <p:sp>
        <p:nvSpPr>
          <p:cNvPr id="6" name="Google Shape;101;p14">
            <a:extLst>
              <a:ext uri="{FF2B5EF4-FFF2-40B4-BE49-F238E27FC236}">
                <a16:creationId xmlns:a16="http://schemas.microsoft.com/office/drawing/2014/main" id="{307CA04C-65EE-945C-FE5C-11928C20CE5F}"/>
              </a:ext>
            </a:extLst>
          </p:cNvPr>
          <p:cNvSpPr/>
          <p:nvPr/>
        </p:nvSpPr>
        <p:spPr>
          <a:xfrm>
            <a:off x="1030905" y="5973840"/>
            <a:ext cx="2013275" cy="3385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500">
                <a:solidFill>
                  <a:schemeClr val="bg1"/>
                </a:solidFill>
                <a:latin typeface="Poppins"/>
              </a:rPr>
              <a:t>Electricity Metering</a:t>
            </a:r>
          </a:p>
        </p:txBody>
      </p:sp>
      <p:sp>
        <p:nvSpPr>
          <p:cNvPr id="7" name="Google Shape;101;p14">
            <a:extLst>
              <a:ext uri="{FF2B5EF4-FFF2-40B4-BE49-F238E27FC236}">
                <a16:creationId xmlns:a16="http://schemas.microsoft.com/office/drawing/2014/main" id="{B0FBDFE6-52F2-A0B1-9DC6-089C911F849D}"/>
              </a:ext>
            </a:extLst>
          </p:cNvPr>
          <p:cNvSpPr/>
          <p:nvPr/>
        </p:nvSpPr>
        <p:spPr>
          <a:xfrm>
            <a:off x="4677872" y="5973840"/>
            <a:ext cx="1467470" cy="3385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500">
                <a:solidFill>
                  <a:schemeClr val="bg1"/>
                </a:solidFill>
                <a:latin typeface="Poppins"/>
              </a:rPr>
              <a:t>Gas Metering</a:t>
            </a:r>
          </a:p>
        </p:txBody>
      </p:sp>
      <p:sp>
        <p:nvSpPr>
          <p:cNvPr id="8" name="Google Shape;101;p14">
            <a:extLst>
              <a:ext uri="{FF2B5EF4-FFF2-40B4-BE49-F238E27FC236}">
                <a16:creationId xmlns:a16="http://schemas.microsoft.com/office/drawing/2014/main" id="{84DA868E-421B-DA46-2CC4-B4BC04F9E6B4}"/>
              </a:ext>
            </a:extLst>
          </p:cNvPr>
          <p:cNvSpPr/>
          <p:nvPr/>
        </p:nvSpPr>
        <p:spPr>
          <a:xfrm>
            <a:off x="7959566" y="5973840"/>
            <a:ext cx="1649331" cy="3385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500">
                <a:solidFill>
                  <a:schemeClr val="bg1"/>
                </a:solidFill>
                <a:latin typeface="Poppins"/>
              </a:rPr>
              <a:t>Water Metering</a:t>
            </a:r>
          </a:p>
        </p:txBody>
      </p:sp>
    </p:spTree>
    <p:extLst>
      <p:ext uri="{BB962C8B-B14F-4D97-AF65-F5344CB8AC3E}">
        <p14:creationId xmlns:p14="http://schemas.microsoft.com/office/powerpoint/2010/main" val="109857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hape, rectangle&#10;&#10;Description automatically generated">
            <a:extLst>
              <a:ext uri="{FF2B5EF4-FFF2-40B4-BE49-F238E27FC236}">
                <a16:creationId xmlns:a16="http://schemas.microsoft.com/office/drawing/2014/main" id="{93B18FCC-26D8-88E5-8555-DE2C8343EB29}"/>
              </a:ext>
            </a:extLst>
          </p:cNvPr>
          <p:cNvPicPr>
            <a:picLocks noChangeAspect="1"/>
          </p:cNvPicPr>
          <p:nvPr/>
        </p:nvPicPr>
        <p:blipFill>
          <a:blip r:embed="rId2"/>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8AB3595B-1360-BCF2-BB44-A6C3AD7F0A60}"/>
              </a:ext>
            </a:extLst>
          </p:cNvPr>
          <p:cNvSpPr txBox="1"/>
          <p:nvPr/>
        </p:nvSpPr>
        <p:spPr>
          <a:xfrm>
            <a:off x="6038849" y="466725"/>
            <a:ext cx="4914900"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EA213F"/>
                </a:solidFill>
                <a:latin typeface="Poppins"/>
                <a:cs typeface="Calibri"/>
              </a:rPr>
              <a:t>Hardware Offerings</a:t>
            </a:r>
          </a:p>
          <a:p>
            <a:pPr marL="342900" indent="-342900">
              <a:buAutoNum type="arabicPeriod"/>
            </a:pPr>
            <a:r>
              <a:rPr lang="en-US" sz="1600">
                <a:solidFill>
                  <a:srgbClr val="FFFFFF"/>
                </a:solidFill>
                <a:latin typeface="Poppins"/>
                <a:cs typeface="Calibri"/>
              </a:rPr>
              <a:t>Wi-SUN Protocol</a:t>
            </a:r>
          </a:p>
          <a:p>
            <a:pPr marL="742950" lvl="1" indent="-285750">
              <a:buFont typeface="Arial,Sans-Serif"/>
              <a:buChar char="•"/>
            </a:pPr>
            <a:r>
              <a:rPr lang="en-US" sz="1600">
                <a:solidFill>
                  <a:srgbClr val="FFFFFF"/>
                </a:solidFill>
                <a:latin typeface="Poppins"/>
                <a:ea typeface="+mn-lt"/>
                <a:cs typeface="+mn-lt"/>
              </a:rPr>
              <a:t>AMI</a:t>
            </a:r>
            <a:endParaRPr lang="en-US" sz="1600">
              <a:latin typeface="Poppins"/>
              <a:ea typeface="+mn-lt"/>
              <a:cs typeface="+mn-lt"/>
            </a:endParaRPr>
          </a:p>
          <a:p>
            <a:pPr marL="742950" lvl="1" indent="-285750">
              <a:buFont typeface="Arial,Sans-Serif"/>
              <a:buChar char="•"/>
            </a:pPr>
            <a:r>
              <a:rPr lang="en-US" sz="1600">
                <a:solidFill>
                  <a:srgbClr val="FFFFFF"/>
                </a:solidFill>
                <a:latin typeface="Poppins"/>
                <a:ea typeface="+mn-lt"/>
                <a:cs typeface="+mn-lt"/>
              </a:rPr>
              <a:t>Module</a:t>
            </a:r>
          </a:p>
          <a:p>
            <a:pPr marL="742950" lvl="1" indent="-285750">
              <a:buFont typeface="Arial,Sans-Serif"/>
              <a:buChar char="•"/>
            </a:pPr>
            <a:r>
              <a:rPr lang="en-US" sz="1600">
                <a:solidFill>
                  <a:srgbClr val="FFFFFF"/>
                </a:solidFill>
                <a:latin typeface="Poppins"/>
                <a:ea typeface="+mn-lt"/>
                <a:cs typeface="+mn-lt"/>
              </a:rPr>
              <a:t>DCU</a:t>
            </a:r>
            <a:endParaRPr lang="en-US" sz="1600">
              <a:latin typeface="Poppins"/>
              <a:cs typeface="Calibri"/>
            </a:endParaRPr>
          </a:p>
          <a:p>
            <a:pPr marL="342900" indent="-342900">
              <a:buFontTx/>
              <a:buAutoNum type="arabicPeriod"/>
            </a:pPr>
            <a:r>
              <a:rPr lang="en-US" sz="1600">
                <a:solidFill>
                  <a:srgbClr val="FFFFFF"/>
                </a:solidFill>
                <a:latin typeface="Poppins"/>
                <a:cs typeface="Calibri"/>
              </a:rPr>
              <a:t>LoRaWAN Protocol</a:t>
            </a:r>
          </a:p>
          <a:p>
            <a:pPr marL="742950" lvl="1" indent="-285750">
              <a:buFont typeface="Arial,Sans-Serif"/>
              <a:buChar char="•"/>
            </a:pPr>
            <a:r>
              <a:rPr lang="en-US" sz="1600">
                <a:solidFill>
                  <a:srgbClr val="FFFFFF"/>
                </a:solidFill>
                <a:latin typeface="Poppins"/>
                <a:ea typeface="+mn-lt"/>
                <a:cs typeface="+mn-lt"/>
              </a:rPr>
              <a:t>AMR</a:t>
            </a:r>
            <a:endParaRPr lang="en-US" sz="1600">
              <a:latin typeface="Poppins"/>
              <a:ea typeface="+mn-lt"/>
              <a:cs typeface="+mn-lt"/>
            </a:endParaRPr>
          </a:p>
          <a:p>
            <a:pPr marL="742950" lvl="1" indent="-285750">
              <a:buFont typeface="Arial,Sans-Serif"/>
              <a:buChar char="•"/>
            </a:pPr>
            <a:r>
              <a:rPr lang="en-US" sz="1600">
                <a:solidFill>
                  <a:srgbClr val="FFFFFF"/>
                </a:solidFill>
                <a:latin typeface="Poppins"/>
                <a:ea typeface="+mn-lt"/>
                <a:cs typeface="+mn-lt"/>
              </a:rPr>
              <a:t>Module</a:t>
            </a:r>
          </a:p>
          <a:p>
            <a:pPr marL="742950" lvl="1" indent="-285750">
              <a:buFont typeface="Arial,Sans-Serif"/>
              <a:buChar char="•"/>
            </a:pPr>
            <a:r>
              <a:rPr lang="en-US" sz="1600">
                <a:solidFill>
                  <a:srgbClr val="FFFFFF"/>
                </a:solidFill>
                <a:latin typeface="Poppins"/>
                <a:ea typeface="+mn-lt"/>
                <a:cs typeface="+mn-lt"/>
              </a:rPr>
              <a:t>DCU</a:t>
            </a:r>
            <a:endParaRPr lang="en-US" sz="1600">
              <a:latin typeface="Poppins"/>
              <a:cs typeface="Calibri"/>
            </a:endParaRPr>
          </a:p>
        </p:txBody>
      </p:sp>
      <p:sp>
        <p:nvSpPr>
          <p:cNvPr id="3" name="TextBox 2">
            <a:extLst>
              <a:ext uri="{FF2B5EF4-FFF2-40B4-BE49-F238E27FC236}">
                <a16:creationId xmlns:a16="http://schemas.microsoft.com/office/drawing/2014/main" id="{79ADC6A8-5A1E-C3DD-C969-AABBA3E1B911}"/>
              </a:ext>
            </a:extLst>
          </p:cNvPr>
          <p:cNvSpPr txBox="1"/>
          <p:nvPr/>
        </p:nvSpPr>
        <p:spPr>
          <a:xfrm>
            <a:off x="6038849" y="4352924"/>
            <a:ext cx="491490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EA213F"/>
                </a:solidFill>
                <a:latin typeface="Poppins"/>
                <a:cs typeface="Calibri"/>
              </a:rPr>
              <a:t>Software Offerings</a:t>
            </a:r>
          </a:p>
          <a:p>
            <a:pPr marL="342900" indent="-342900">
              <a:buAutoNum type="arabicPeriod"/>
            </a:pPr>
            <a:r>
              <a:rPr lang="en-US" sz="1600">
                <a:solidFill>
                  <a:srgbClr val="FFFFFF"/>
                </a:solidFill>
                <a:latin typeface="Poppins"/>
                <a:cs typeface="Calibri"/>
              </a:rPr>
              <a:t>LoRaWAN Network Server (LNS)</a:t>
            </a:r>
          </a:p>
          <a:p>
            <a:pPr marL="342900" indent="-342900">
              <a:buAutoNum type="arabicPeriod"/>
            </a:pPr>
            <a:r>
              <a:rPr lang="en-US" sz="1600">
                <a:solidFill>
                  <a:srgbClr val="FFFFFF"/>
                </a:solidFill>
                <a:latin typeface="Poppins"/>
                <a:cs typeface="Calibri"/>
              </a:rPr>
              <a:t>Network Management Server (NMS)</a:t>
            </a:r>
          </a:p>
          <a:p>
            <a:pPr marL="342900" indent="-342900">
              <a:buAutoNum type="arabicPeriod"/>
            </a:pPr>
            <a:r>
              <a:rPr lang="en-US" sz="1600">
                <a:solidFill>
                  <a:srgbClr val="FFFFFF"/>
                </a:solidFill>
                <a:latin typeface="Poppins"/>
                <a:cs typeface="Calibri"/>
              </a:rPr>
              <a:t>Head End System (HES)</a:t>
            </a:r>
          </a:p>
        </p:txBody>
      </p:sp>
    </p:spTree>
    <p:extLst>
      <p:ext uri="{BB962C8B-B14F-4D97-AF65-F5344CB8AC3E}">
        <p14:creationId xmlns:p14="http://schemas.microsoft.com/office/powerpoint/2010/main" val="694043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hape, rectangle&#10;&#10;Description automatically generated">
            <a:extLst>
              <a:ext uri="{FF2B5EF4-FFF2-40B4-BE49-F238E27FC236}">
                <a16:creationId xmlns:a16="http://schemas.microsoft.com/office/drawing/2014/main" id="{93B18FCC-26D8-88E5-8555-DE2C8343EB29}"/>
              </a:ext>
            </a:extLst>
          </p:cNvPr>
          <p:cNvPicPr>
            <a:picLocks noChangeAspect="1"/>
          </p:cNvPicPr>
          <p:nvPr/>
        </p:nvPicPr>
        <p:blipFill>
          <a:blip r:embed="rId3"/>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954B73E1-4673-5ADA-17F5-2D4A9C783F90}"/>
              </a:ext>
            </a:extLst>
          </p:cNvPr>
          <p:cNvSpPr txBox="1"/>
          <p:nvPr/>
        </p:nvSpPr>
        <p:spPr>
          <a:xfrm>
            <a:off x="762000" y="400050"/>
            <a:ext cx="49911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rgbClr val="FFFFFF"/>
                </a:solidFill>
                <a:latin typeface="Poppins"/>
                <a:cs typeface="Calibri"/>
              </a:rPr>
              <a:t>Energy </a:t>
            </a:r>
            <a:r>
              <a:rPr lang="en-US" sz="3000" b="1">
                <a:solidFill>
                  <a:srgbClr val="EA213F"/>
                </a:solidFill>
                <a:latin typeface="Poppins"/>
                <a:cs typeface="Calibri"/>
              </a:rPr>
              <a:t>AMI Architecture</a:t>
            </a:r>
          </a:p>
        </p:txBody>
      </p:sp>
      <p:pic>
        <p:nvPicPr>
          <p:cNvPr id="5" name="Picture 5" descr="Diagram&#10;&#10;Description automatically generated">
            <a:extLst>
              <a:ext uri="{FF2B5EF4-FFF2-40B4-BE49-F238E27FC236}">
                <a16:creationId xmlns:a16="http://schemas.microsoft.com/office/drawing/2014/main" id="{8F3D7A54-52E4-67EA-198D-439E1E45994F}"/>
              </a:ext>
            </a:extLst>
          </p:cNvPr>
          <p:cNvPicPr>
            <a:picLocks noChangeAspect="1"/>
          </p:cNvPicPr>
          <p:nvPr/>
        </p:nvPicPr>
        <p:blipFill>
          <a:blip r:embed="rId4"/>
          <a:stretch>
            <a:fillRect/>
          </a:stretch>
        </p:blipFill>
        <p:spPr>
          <a:xfrm>
            <a:off x="872588" y="1441790"/>
            <a:ext cx="10684948" cy="5184095"/>
          </a:xfrm>
          <a:prstGeom prst="rect">
            <a:avLst/>
          </a:prstGeom>
        </p:spPr>
      </p:pic>
    </p:spTree>
    <p:extLst>
      <p:ext uri="{BB962C8B-B14F-4D97-AF65-F5344CB8AC3E}">
        <p14:creationId xmlns:p14="http://schemas.microsoft.com/office/powerpoint/2010/main" val="2058913391"/>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hape, rectangle&#10;&#10;Description automatically generated">
            <a:extLst>
              <a:ext uri="{FF2B5EF4-FFF2-40B4-BE49-F238E27FC236}">
                <a16:creationId xmlns:a16="http://schemas.microsoft.com/office/drawing/2014/main" id="{93B18FCC-26D8-88E5-8555-DE2C8343EB29}"/>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B5DCCA5D-FACB-748C-CBAB-171A815E91CF}"/>
              </a:ext>
            </a:extLst>
          </p:cNvPr>
          <p:cNvSpPr txBox="1"/>
          <p:nvPr/>
        </p:nvSpPr>
        <p:spPr>
          <a:xfrm>
            <a:off x="771525" y="619125"/>
            <a:ext cx="3295650" cy="553998"/>
          </a:xfrm>
          <a:prstGeom prst="rect">
            <a:avLst/>
          </a:prstGeom>
          <a:solidFill>
            <a:srgbClr val="2E2E2E"/>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rgbClr val="FFFFFF"/>
                </a:solidFill>
                <a:latin typeface="Poppins"/>
                <a:cs typeface="Calibri"/>
              </a:rPr>
              <a:t>Wi-SUN </a:t>
            </a:r>
            <a:r>
              <a:rPr lang="en-US" sz="3000">
                <a:solidFill>
                  <a:srgbClr val="EA213F"/>
                </a:solidFill>
                <a:latin typeface="Poppins"/>
                <a:cs typeface="Calibri"/>
              </a:rPr>
              <a:t>Module</a:t>
            </a:r>
            <a:endParaRPr lang="en-US">
              <a:solidFill>
                <a:srgbClr val="EA213F"/>
              </a:solidFill>
              <a:latin typeface="Poppins"/>
              <a:cs typeface="Poppins"/>
            </a:endParaRPr>
          </a:p>
        </p:txBody>
      </p:sp>
      <p:pic>
        <p:nvPicPr>
          <p:cNvPr id="2" name="Picture 4" descr="A picture containing text, electronics, circuit&#10;&#10;Description automatically generated">
            <a:extLst>
              <a:ext uri="{FF2B5EF4-FFF2-40B4-BE49-F238E27FC236}">
                <a16:creationId xmlns:a16="http://schemas.microsoft.com/office/drawing/2014/main" id="{B5310C83-25E3-47E5-00CB-53162AC5EEAE}"/>
              </a:ext>
            </a:extLst>
          </p:cNvPr>
          <p:cNvPicPr>
            <a:picLocks noChangeAspect="1"/>
          </p:cNvPicPr>
          <p:nvPr/>
        </p:nvPicPr>
        <p:blipFill rotWithShape="1">
          <a:blip r:embed="rId3"/>
          <a:srcRect l="-186" r="5028" b="6538"/>
          <a:stretch/>
        </p:blipFill>
        <p:spPr>
          <a:xfrm rot="5400000">
            <a:off x="7042007" y="2347106"/>
            <a:ext cx="4591056" cy="3682314"/>
          </a:xfrm>
          <a:prstGeom prst="rect">
            <a:avLst/>
          </a:prstGeom>
          <a:ln w="28575">
            <a:noFill/>
          </a:ln>
        </p:spPr>
      </p:pic>
      <p:sp>
        <p:nvSpPr>
          <p:cNvPr id="6" name="Google Shape;101;p14">
            <a:extLst>
              <a:ext uri="{FF2B5EF4-FFF2-40B4-BE49-F238E27FC236}">
                <a16:creationId xmlns:a16="http://schemas.microsoft.com/office/drawing/2014/main" id="{11E55027-1B45-4888-DE50-63A76DE94C66}"/>
              </a:ext>
            </a:extLst>
          </p:cNvPr>
          <p:cNvSpPr/>
          <p:nvPr/>
        </p:nvSpPr>
        <p:spPr>
          <a:xfrm>
            <a:off x="402255" y="3564014"/>
            <a:ext cx="6490025" cy="312937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buChar char="•"/>
            </a:pPr>
            <a:r>
              <a:rPr lang="en-US" sz="1500" dirty="0">
                <a:latin typeface="Poppins"/>
              </a:rPr>
              <a:t>Frequency band: 863 MHz to 876 MHz </a:t>
            </a:r>
            <a:endParaRPr lang="en-US">
              <a:latin typeface="Poppins"/>
            </a:endParaRPr>
          </a:p>
          <a:p>
            <a:pPr algn="just">
              <a:lnSpc>
                <a:spcPct val="150000"/>
              </a:lnSpc>
              <a:buChar char="•"/>
            </a:pPr>
            <a:r>
              <a:rPr lang="en-US" sz="1500" dirty="0">
                <a:latin typeface="Poppins"/>
              </a:rPr>
              <a:t>Up to 1024 kB Flash program memory &amp; 128 kB RAM data memory </a:t>
            </a:r>
            <a:endParaRPr lang="en-US" dirty="0">
              <a:latin typeface="Poppins"/>
            </a:endParaRPr>
          </a:p>
          <a:p>
            <a:pPr algn="just">
              <a:lnSpc>
                <a:spcPct val="150000"/>
              </a:lnSpc>
              <a:buChar char="•"/>
            </a:pPr>
            <a:r>
              <a:rPr lang="en-US" sz="1500" dirty="0">
                <a:latin typeface="Poppins"/>
              </a:rPr>
              <a:t>Supports BPSK / DBPSK TX modulation format</a:t>
            </a:r>
            <a:endParaRPr lang="en-US">
              <a:latin typeface="Poppins"/>
            </a:endParaRPr>
          </a:p>
          <a:p>
            <a:pPr algn="just">
              <a:lnSpc>
                <a:spcPct val="150000"/>
              </a:lnSpc>
              <a:buChar char="•"/>
            </a:pPr>
            <a:r>
              <a:rPr lang="en-US" sz="1500" dirty="0">
                <a:latin typeface="Poppins"/>
              </a:rPr>
              <a:t>32-bit real time counter and calendar</a:t>
            </a:r>
            <a:endParaRPr lang="en-US">
              <a:latin typeface="Poppins"/>
            </a:endParaRPr>
          </a:p>
          <a:p>
            <a:pPr algn="just">
              <a:lnSpc>
                <a:spcPct val="150000"/>
              </a:lnSpc>
              <a:buChar char="•"/>
            </a:pPr>
            <a:r>
              <a:rPr lang="en-US" sz="1500" dirty="0">
                <a:latin typeface="Poppins"/>
              </a:rPr>
              <a:t>2 × Watchdog timer with dedicated RC oscillator</a:t>
            </a:r>
            <a:endParaRPr lang="en-US">
              <a:latin typeface="Poppins"/>
            </a:endParaRPr>
          </a:p>
          <a:p>
            <a:pPr algn="just">
              <a:lnSpc>
                <a:spcPct val="150000"/>
              </a:lnSpc>
              <a:buChar char="•"/>
            </a:pPr>
            <a:r>
              <a:rPr lang="en-US" sz="1500" dirty="0">
                <a:latin typeface="Poppins"/>
              </a:rPr>
              <a:t>IEEE 802.15.4 compliant</a:t>
            </a:r>
            <a:endParaRPr lang="en-US">
              <a:latin typeface="Poppins"/>
            </a:endParaRPr>
          </a:p>
          <a:p>
            <a:pPr algn="just">
              <a:lnSpc>
                <a:spcPct val="150000"/>
              </a:lnSpc>
              <a:buChar char="•"/>
            </a:pPr>
            <a:r>
              <a:rPr lang="en-US" sz="1500" dirty="0">
                <a:latin typeface="Poppins"/>
              </a:rPr>
              <a:t>12-bit 1 MSPS SAR analog to digital converter (ADC)</a:t>
            </a:r>
            <a:endParaRPr lang="en-US">
              <a:latin typeface="Poppins"/>
            </a:endParaRPr>
          </a:p>
          <a:p>
            <a:pPr algn="just">
              <a:lnSpc>
                <a:spcPct val="150000"/>
              </a:lnSpc>
              <a:buChar char="•"/>
            </a:pPr>
            <a:r>
              <a:rPr lang="en-US" sz="1500" dirty="0">
                <a:latin typeface="Poppins"/>
              </a:rPr>
              <a:t>Provides an OTA (Over the Air) firmware update mechanism</a:t>
            </a:r>
          </a:p>
          <a:p>
            <a:pPr algn="just">
              <a:lnSpc>
                <a:spcPct val="150000"/>
              </a:lnSpc>
              <a:buChar char="•"/>
            </a:pPr>
            <a:r>
              <a:rPr lang="en-US" sz="1500" dirty="0">
                <a:latin typeface="Poppins"/>
              </a:rPr>
              <a:t>Comes with U.FL connector to support external antenna</a:t>
            </a:r>
            <a:endParaRPr lang="en-US">
              <a:latin typeface="Poppins"/>
            </a:endParaRPr>
          </a:p>
        </p:txBody>
      </p:sp>
      <p:sp>
        <p:nvSpPr>
          <p:cNvPr id="11" name="Google Shape;101;p14">
            <a:extLst>
              <a:ext uri="{FF2B5EF4-FFF2-40B4-BE49-F238E27FC236}">
                <a16:creationId xmlns:a16="http://schemas.microsoft.com/office/drawing/2014/main" id="{45DBDF3D-0D14-C6DD-86F5-CAFFF4DCD3F6}"/>
              </a:ext>
            </a:extLst>
          </p:cNvPr>
          <p:cNvSpPr/>
          <p:nvPr/>
        </p:nvSpPr>
        <p:spPr>
          <a:xfrm>
            <a:off x="402255" y="1211340"/>
            <a:ext cx="6613850" cy="166252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1500">
                <a:latin typeface="Poppins"/>
              </a:rPr>
              <a:t>NM0221-I is a SOC-based low-power wireless module by Nebulae that provides long-range connectivity for IoT devices. NM0221-I is ideal for applications which need self-forming and self-healing mesh networks. The module is ideal for IS16444 smart metering applications because it is equipped with sufficient memory and is WPC certified. NM0221-I's FOTA capability makes it suitable for remote security updates.</a:t>
            </a:r>
          </a:p>
        </p:txBody>
      </p:sp>
      <p:sp>
        <p:nvSpPr>
          <p:cNvPr id="7" name="TextBox 6">
            <a:extLst>
              <a:ext uri="{FF2B5EF4-FFF2-40B4-BE49-F238E27FC236}">
                <a16:creationId xmlns:a16="http://schemas.microsoft.com/office/drawing/2014/main" id="{9D16718F-91DB-E683-B9F0-8AB719EF45D7}"/>
              </a:ext>
            </a:extLst>
          </p:cNvPr>
          <p:cNvSpPr txBox="1"/>
          <p:nvPr/>
        </p:nvSpPr>
        <p:spPr>
          <a:xfrm>
            <a:off x="560867" y="2945883"/>
            <a:ext cx="2028825" cy="553998"/>
          </a:xfrm>
          <a:prstGeom prst="rect">
            <a:avLst/>
          </a:prstGeom>
          <a:solidFill>
            <a:srgbClr val="2E2E2E"/>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solidFill>
                  <a:srgbClr val="FFFFFF"/>
                </a:solidFill>
                <a:latin typeface="Poppins"/>
                <a:cs typeface="Calibri"/>
              </a:rPr>
              <a:t>FEATURES</a:t>
            </a:r>
            <a:endParaRPr lang="en-US">
              <a:latin typeface="Poppins"/>
              <a:cs typeface="Poppins"/>
            </a:endParaRPr>
          </a:p>
        </p:txBody>
      </p:sp>
    </p:spTree>
    <p:extLst>
      <p:ext uri="{BB962C8B-B14F-4D97-AF65-F5344CB8AC3E}">
        <p14:creationId xmlns:p14="http://schemas.microsoft.com/office/powerpoint/2010/main" val="2941639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hape, rectangle&#10;&#10;Description automatically generated">
            <a:extLst>
              <a:ext uri="{FF2B5EF4-FFF2-40B4-BE49-F238E27FC236}">
                <a16:creationId xmlns:a16="http://schemas.microsoft.com/office/drawing/2014/main" id="{93B18FCC-26D8-88E5-8555-DE2C8343EB29}"/>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FE6B1565-CF57-3683-F102-3CE945AF5549}"/>
              </a:ext>
            </a:extLst>
          </p:cNvPr>
          <p:cNvSpPr txBox="1"/>
          <p:nvPr/>
        </p:nvSpPr>
        <p:spPr>
          <a:xfrm>
            <a:off x="771525" y="619125"/>
            <a:ext cx="2657475" cy="553998"/>
          </a:xfrm>
          <a:prstGeom prst="rect">
            <a:avLst/>
          </a:prstGeom>
          <a:solidFill>
            <a:srgbClr val="2E2E2E"/>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rgbClr val="FFFFFF"/>
                </a:solidFill>
                <a:latin typeface="Poppins"/>
                <a:cs typeface="Calibri"/>
              </a:rPr>
              <a:t>Wi-SUN </a:t>
            </a:r>
            <a:r>
              <a:rPr lang="en-US" sz="3000">
                <a:solidFill>
                  <a:srgbClr val="EA213F"/>
                </a:solidFill>
                <a:latin typeface="Poppins"/>
                <a:cs typeface="Calibri"/>
              </a:rPr>
              <a:t>DCU</a:t>
            </a:r>
            <a:endParaRPr lang="en-US">
              <a:solidFill>
                <a:srgbClr val="EA213F"/>
              </a:solidFill>
              <a:latin typeface="Poppins"/>
              <a:cs typeface="Poppins"/>
            </a:endParaRPr>
          </a:p>
        </p:txBody>
      </p:sp>
      <p:sp>
        <p:nvSpPr>
          <p:cNvPr id="10" name="Google Shape;101;p14">
            <a:extLst>
              <a:ext uri="{FF2B5EF4-FFF2-40B4-BE49-F238E27FC236}">
                <a16:creationId xmlns:a16="http://schemas.microsoft.com/office/drawing/2014/main" id="{1395DACC-EA07-ACA2-690A-588E81482C9E}"/>
              </a:ext>
            </a:extLst>
          </p:cNvPr>
          <p:cNvSpPr/>
          <p:nvPr/>
        </p:nvSpPr>
        <p:spPr>
          <a:xfrm>
            <a:off x="402255" y="3592589"/>
            <a:ext cx="5747075" cy="28531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buChar char="•"/>
            </a:pPr>
            <a:r>
              <a:rPr lang="en-US" sz="1500" dirty="0">
                <a:latin typeface="Poppins"/>
              </a:rPr>
              <a:t>Open-source embedded Linux system </a:t>
            </a:r>
            <a:endParaRPr lang="en-US" dirty="0">
              <a:latin typeface="Poppins"/>
            </a:endParaRPr>
          </a:p>
          <a:p>
            <a:pPr algn="just">
              <a:lnSpc>
                <a:spcPct val="150000"/>
              </a:lnSpc>
              <a:buChar char="•"/>
            </a:pPr>
            <a:r>
              <a:rPr lang="en-US" sz="1500" dirty="0">
                <a:latin typeface="Poppins"/>
              </a:rPr>
              <a:t>IP65, Fire retardant rated case </a:t>
            </a:r>
            <a:endParaRPr lang="en-US" dirty="0">
              <a:latin typeface="Poppins"/>
            </a:endParaRPr>
          </a:p>
          <a:p>
            <a:pPr algn="just">
              <a:lnSpc>
                <a:spcPct val="150000"/>
              </a:lnSpc>
              <a:buChar char="•"/>
            </a:pPr>
            <a:r>
              <a:rPr lang="en-US" sz="1500" dirty="0">
                <a:latin typeface="Poppins"/>
              </a:rPr>
              <a:t>250 Nodes connected in one DCU </a:t>
            </a:r>
            <a:endParaRPr lang="en-US" dirty="0">
              <a:latin typeface="Poppins"/>
            </a:endParaRPr>
          </a:p>
          <a:p>
            <a:pPr algn="just">
              <a:lnSpc>
                <a:spcPct val="150000"/>
              </a:lnSpc>
              <a:buChar char="•"/>
            </a:pPr>
            <a:r>
              <a:rPr lang="en-US" sz="1500" dirty="0">
                <a:latin typeface="Poppins"/>
              </a:rPr>
              <a:t>Tempered protection </a:t>
            </a:r>
            <a:endParaRPr lang="en-US" dirty="0">
              <a:latin typeface="Poppins"/>
            </a:endParaRPr>
          </a:p>
          <a:p>
            <a:pPr algn="just">
              <a:lnSpc>
                <a:spcPct val="150000"/>
              </a:lnSpc>
              <a:buChar char="•"/>
            </a:pPr>
            <a:r>
              <a:rPr lang="en-US" sz="1500" dirty="0">
                <a:latin typeface="Poppins"/>
              </a:rPr>
              <a:t>Long range wireless data transmission </a:t>
            </a:r>
            <a:endParaRPr lang="en-US" dirty="0">
              <a:latin typeface="Poppins"/>
            </a:endParaRPr>
          </a:p>
          <a:p>
            <a:pPr algn="just">
              <a:lnSpc>
                <a:spcPct val="150000"/>
              </a:lnSpc>
              <a:buChar char="•"/>
            </a:pPr>
            <a:r>
              <a:rPr lang="en-US" sz="1500" dirty="0">
                <a:latin typeface="Poppins"/>
              </a:rPr>
              <a:t>External fiber glass antenna with 5 </a:t>
            </a:r>
            <a:r>
              <a:rPr lang="en-US" sz="1500" dirty="0" err="1">
                <a:latin typeface="Poppins"/>
              </a:rPr>
              <a:t>dBi</a:t>
            </a:r>
            <a:r>
              <a:rPr lang="en-US" sz="1500" dirty="0">
                <a:latin typeface="Poppins"/>
              </a:rPr>
              <a:t> gain for long range</a:t>
            </a:r>
            <a:endParaRPr lang="en-US" dirty="0">
              <a:latin typeface="Poppins"/>
            </a:endParaRPr>
          </a:p>
          <a:p>
            <a:pPr algn="just">
              <a:lnSpc>
                <a:spcPct val="150000"/>
              </a:lnSpc>
              <a:buChar char="•"/>
            </a:pPr>
            <a:r>
              <a:rPr lang="en-US" sz="1500" dirty="0">
                <a:latin typeface="Poppins"/>
              </a:rPr>
              <a:t>Supports up to 100Mbps Ethernet speed </a:t>
            </a:r>
            <a:endParaRPr lang="en-US" dirty="0">
              <a:latin typeface="Poppins"/>
            </a:endParaRPr>
          </a:p>
          <a:p>
            <a:pPr algn="just">
              <a:lnSpc>
                <a:spcPct val="150000"/>
              </a:lnSpc>
              <a:buChar char="•"/>
            </a:pPr>
            <a:r>
              <a:rPr lang="en-US" sz="1500" dirty="0">
                <a:latin typeface="Poppins"/>
              </a:rPr>
              <a:t>Supports DCU battery backup</a:t>
            </a:r>
            <a:endParaRPr lang="en-US" dirty="0">
              <a:latin typeface="Poppins"/>
            </a:endParaRPr>
          </a:p>
        </p:txBody>
      </p:sp>
      <p:pic>
        <p:nvPicPr>
          <p:cNvPr id="12" name="Picture 4" descr="Text&#10;&#10;Description automatically generated">
            <a:extLst>
              <a:ext uri="{FF2B5EF4-FFF2-40B4-BE49-F238E27FC236}">
                <a16:creationId xmlns:a16="http://schemas.microsoft.com/office/drawing/2014/main" id="{3FB39507-DE6E-05C1-D8A9-8043D7AC4E98}"/>
              </a:ext>
            </a:extLst>
          </p:cNvPr>
          <p:cNvPicPr>
            <a:picLocks noChangeAspect="1"/>
          </p:cNvPicPr>
          <p:nvPr/>
        </p:nvPicPr>
        <p:blipFill rotWithShape="1">
          <a:blip r:embed="rId3"/>
          <a:srcRect l="21503" t="-15" r="17760" b="6211"/>
          <a:stretch/>
        </p:blipFill>
        <p:spPr>
          <a:xfrm>
            <a:off x="7275026" y="845644"/>
            <a:ext cx="3103283" cy="5485850"/>
          </a:xfrm>
          <a:prstGeom prst="rect">
            <a:avLst/>
          </a:prstGeom>
          <a:ln w="28575">
            <a:noFill/>
          </a:ln>
        </p:spPr>
      </p:pic>
      <p:sp>
        <p:nvSpPr>
          <p:cNvPr id="6" name="TextBox 5">
            <a:extLst>
              <a:ext uri="{FF2B5EF4-FFF2-40B4-BE49-F238E27FC236}">
                <a16:creationId xmlns:a16="http://schemas.microsoft.com/office/drawing/2014/main" id="{EC73C4AF-829A-AA49-C471-26CE28CCB493}"/>
              </a:ext>
            </a:extLst>
          </p:cNvPr>
          <p:cNvSpPr txBox="1"/>
          <p:nvPr/>
        </p:nvSpPr>
        <p:spPr>
          <a:xfrm>
            <a:off x="560867" y="2945883"/>
            <a:ext cx="2028825" cy="553998"/>
          </a:xfrm>
          <a:prstGeom prst="rect">
            <a:avLst/>
          </a:prstGeom>
          <a:solidFill>
            <a:srgbClr val="2E2E2E"/>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solidFill>
                  <a:srgbClr val="FFFFFF"/>
                </a:solidFill>
                <a:latin typeface="Poppins"/>
                <a:cs typeface="Calibri"/>
              </a:rPr>
              <a:t>FEATURES</a:t>
            </a:r>
            <a:endParaRPr lang="en-US">
              <a:latin typeface="Poppins"/>
              <a:cs typeface="Poppins"/>
            </a:endParaRPr>
          </a:p>
        </p:txBody>
      </p:sp>
      <p:sp>
        <p:nvSpPr>
          <p:cNvPr id="8" name="Google Shape;101;p14">
            <a:extLst>
              <a:ext uri="{FF2B5EF4-FFF2-40B4-BE49-F238E27FC236}">
                <a16:creationId xmlns:a16="http://schemas.microsoft.com/office/drawing/2014/main" id="{C7FC5905-7AF0-32EA-8317-DCFF2DA8BDE3}"/>
              </a:ext>
            </a:extLst>
          </p:cNvPr>
          <p:cNvSpPr/>
          <p:nvPr/>
        </p:nvSpPr>
        <p:spPr>
          <a:xfrm>
            <a:off x="402255" y="1211340"/>
            <a:ext cx="6613850" cy="166252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1500" dirty="0">
                <a:latin typeface="Poppins"/>
              </a:rPr>
              <a:t>The NLG8520 by Nebulae is a cutting-edge Wi-SUN gateway that provides secured interconnection of Wi-SUN field devices with WAN communication networks. Its capabilities include Wi-SUN FAN 1.0 Support, remote device management, communication management, data storage, and interface abstraction. Ideal for small to medium mesh networks supporting up to 250 nodes on a single network for various IoT applications.</a:t>
            </a:r>
            <a:endParaRPr lang="en-US">
              <a:latin typeface="Poppins"/>
            </a:endParaRPr>
          </a:p>
        </p:txBody>
      </p:sp>
    </p:spTree>
    <p:extLst>
      <p:ext uri="{BB962C8B-B14F-4D97-AF65-F5344CB8AC3E}">
        <p14:creationId xmlns:p14="http://schemas.microsoft.com/office/powerpoint/2010/main" val="3054255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hape, rectangle&#10;&#10;Description automatically generated">
            <a:extLst>
              <a:ext uri="{FF2B5EF4-FFF2-40B4-BE49-F238E27FC236}">
                <a16:creationId xmlns:a16="http://schemas.microsoft.com/office/drawing/2014/main" id="{93B18FCC-26D8-88E5-8555-DE2C8343EB29}"/>
              </a:ext>
            </a:extLst>
          </p:cNvPr>
          <p:cNvPicPr>
            <a:picLocks noChangeAspect="1"/>
          </p:cNvPicPr>
          <p:nvPr/>
        </p:nvPicPr>
        <p:blipFill>
          <a:blip r:embed="rId2"/>
          <a:stretch>
            <a:fillRect/>
          </a:stretch>
        </p:blipFill>
        <p:spPr>
          <a:xfrm>
            <a:off x="0" y="0"/>
            <a:ext cx="12192000" cy="6858000"/>
          </a:xfrm>
          <a:prstGeom prst="rect">
            <a:avLst/>
          </a:prstGeom>
        </p:spPr>
      </p:pic>
      <p:pic>
        <p:nvPicPr>
          <p:cNvPr id="2" name="Picture 2">
            <a:extLst>
              <a:ext uri="{FF2B5EF4-FFF2-40B4-BE49-F238E27FC236}">
                <a16:creationId xmlns:a16="http://schemas.microsoft.com/office/drawing/2014/main" id="{885722E0-8307-C3C4-DA66-08E9B1EBD4AC}"/>
              </a:ext>
            </a:extLst>
          </p:cNvPr>
          <p:cNvPicPr>
            <a:picLocks noChangeAspect="1"/>
          </p:cNvPicPr>
          <p:nvPr/>
        </p:nvPicPr>
        <p:blipFill>
          <a:blip r:embed="rId3"/>
          <a:stretch>
            <a:fillRect/>
          </a:stretch>
        </p:blipFill>
        <p:spPr>
          <a:xfrm>
            <a:off x="633083" y="1591825"/>
            <a:ext cx="10925833" cy="5055475"/>
          </a:xfrm>
          <a:prstGeom prst="rect">
            <a:avLst/>
          </a:prstGeom>
        </p:spPr>
      </p:pic>
      <p:sp>
        <p:nvSpPr>
          <p:cNvPr id="5" name="TextBox 4">
            <a:extLst>
              <a:ext uri="{FF2B5EF4-FFF2-40B4-BE49-F238E27FC236}">
                <a16:creationId xmlns:a16="http://schemas.microsoft.com/office/drawing/2014/main" id="{CEF39268-6031-6653-4478-84F0A763DFF5}"/>
              </a:ext>
            </a:extLst>
          </p:cNvPr>
          <p:cNvSpPr txBox="1"/>
          <p:nvPr/>
        </p:nvSpPr>
        <p:spPr>
          <a:xfrm>
            <a:off x="762000" y="400050"/>
            <a:ext cx="6181725"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rgbClr val="FFFFFF"/>
                </a:solidFill>
                <a:latin typeface="Poppins"/>
                <a:cs typeface="Calibri"/>
              </a:rPr>
              <a:t>Water &amp; Gas </a:t>
            </a:r>
            <a:r>
              <a:rPr lang="en-US" sz="3000">
                <a:solidFill>
                  <a:srgbClr val="EA213F"/>
                </a:solidFill>
                <a:latin typeface="Poppins"/>
                <a:cs typeface="Calibri"/>
              </a:rPr>
              <a:t>AMR Architecture</a:t>
            </a:r>
          </a:p>
        </p:txBody>
      </p:sp>
    </p:spTree>
    <p:extLst>
      <p:ext uri="{BB962C8B-B14F-4D97-AF65-F5344CB8AC3E}">
        <p14:creationId xmlns:p14="http://schemas.microsoft.com/office/powerpoint/2010/main" val="118366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hape, rectangle&#10;&#10;Description automatically generated">
            <a:extLst>
              <a:ext uri="{FF2B5EF4-FFF2-40B4-BE49-F238E27FC236}">
                <a16:creationId xmlns:a16="http://schemas.microsoft.com/office/drawing/2014/main" id="{93B18FCC-26D8-88E5-8555-DE2C8343EB29}"/>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4D89AB26-E268-0409-25EF-552FB69AEB4F}"/>
              </a:ext>
            </a:extLst>
          </p:cNvPr>
          <p:cNvSpPr txBox="1"/>
          <p:nvPr/>
        </p:nvSpPr>
        <p:spPr>
          <a:xfrm>
            <a:off x="771525" y="619125"/>
            <a:ext cx="2657475" cy="553998"/>
          </a:xfrm>
          <a:prstGeom prst="rect">
            <a:avLst/>
          </a:prstGeom>
          <a:solidFill>
            <a:srgbClr val="2E2E2E"/>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rgbClr val="FFFFFF"/>
                </a:solidFill>
                <a:latin typeface="Poppins"/>
                <a:cs typeface="Calibri"/>
              </a:rPr>
              <a:t>LoRa </a:t>
            </a:r>
            <a:r>
              <a:rPr lang="en-US" sz="3000">
                <a:solidFill>
                  <a:srgbClr val="EA213F"/>
                </a:solidFill>
                <a:latin typeface="Poppins"/>
                <a:cs typeface="Calibri"/>
              </a:rPr>
              <a:t>Module</a:t>
            </a:r>
            <a:endParaRPr lang="en-US">
              <a:solidFill>
                <a:srgbClr val="EA213F"/>
              </a:solidFill>
              <a:latin typeface="Poppins"/>
              <a:cs typeface="Poppins"/>
            </a:endParaRPr>
          </a:p>
        </p:txBody>
      </p:sp>
      <p:sp>
        <p:nvSpPr>
          <p:cNvPr id="6" name="Google Shape;101;p14">
            <a:extLst>
              <a:ext uri="{FF2B5EF4-FFF2-40B4-BE49-F238E27FC236}">
                <a16:creationId xmlns:a16="http://schemas.microsoft.com/office/drawing/2014/main" id="{E6DBA1BF-1FFD-D830-9C03-1A8EDA4C1943}"/>
              </a:ext>
            </a:extLst>
          </p:cNvPr>
          <p:cNvSpPr/>
          <p:nvPr/>
        </p:nvSpPr>
        <p:spPr>
          <a:xfrm>
            <a:off x="411780" y="3592589"/>
            <a:ext cx="5137475" cy="280552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buChar char="•"/>
            </a:pPr>
            <a:r>
              <a:rPr lang="en-US" sz="1500" dirty="0">
                <a:latin typeface="Poppins"/>
              </a:rPr>
              <a:t>Frequency band: EU863-870 MHz, IN865 MHz </a:t>
            </a:r>
            <a:endParaRPr lang="en-US">
              <a:latin typeface="Poppins"/>
            </a:endParaRPr>
          </a:p>
          <a:p>
            <a:pPr algn="just">
              <a:lnSpc>
                <a:spcPct val="150000"/>
              </a:lnSpc>
              <a:buChar char="•"/>
            </a:pPr>
            <a:r>
              <a:rPr lang="en-US" sz="1500" dirty="0">
                <a:latin typeface="Poppins"/>
              </a:rPr>
              <a:t>Sensitivity: Down to -135 dBm (SF12) </a:t>
            </a:r>
            <a:endParaRPr lang="en-US">
              <a:latin typeface="Poppins"/>
            </a:endParaRPr>
          </a:p>
          <a:p>
            <a:pPr algn="just">
              <a:lnSpc>
                <a:spcPct val="150000"/>
              </a:lnSpc>
              <a:buChar char="•"/>
            </a:pPr>
            <a:r>
              <a:rPr lang="en-US" sz="1500" dirty="0">
                <a:latin typeface="Poppins"/>
              </a:rPr>
              <a:t>Serial Interfaces: 2 x SPI, 3 x I2C, 2 x USART, 1 x LPUART</a:t>
            </a:r>
            <a:endParaRPr lang="en-US">
              <a:latin typeface="Poppins"/>
            </a:endParaRPr>
          </a:p>
          <a:p>
            <a:pPr algn="just">
              <a:lnSpc>
                <a:spcPct val="150000"/>
              </a:lnSpc>
              <a:buChar char="•"/>
            </a:pPr>
            <a:r>
              <a:rPr lang="en-US" sz="1500" dirty="0">
                <a:latin typeface="Poppins"/>
              </a:rPr>
              <a:t>Supports up to 43 Digital inputs and outputs </a:t>
            </a:r>
            <a:endParaRPr lang="en-US">
              <a:latin typeface="Poppins"/>
            </a:endParaRPr>
          </a:p>
          <a:p>
            <a:pPr algn="just">
              <a:lnSpc>
                <a:spcPct val="150000"/>
              </a:lnSpc>
              <a:buChar char="•"/>
            </a:pPr>
            <a:r>
              <a:rPr lang="en-US" sz="1500" dirty="0">
                <a:latin typeface="Poppins"/>
              </a:rPr>
              <a:t>Analog inputs </a:t>
            </a:r>
            <a:endParaRPr lang="en-US">
              <a:latin typeface="Poppins"/>
            </a:endParaRPr>
          </a:p>
          <a:p>
            <a:pPr algn="just">
              <a:lnSpc>
                <a:spcPct val="150000"/>
              </a:lnSpc>
              <a:buChar char="•"/>
            </a:pPr>
            <a:r>
              <a:rPr lang="en-US" sz="1500" dirty="0">
                <a:latin typeface="Poppins"/>
              </a:rPr>
              <a:t>Storage: 256 kB Flash and 64 kB RAM</a:t>
            </a:r>
          </a:p>
          <a:p>
            <a:pPr algn="just">
              <a:lnSpc>
                <a:spcPct val="150000"/>
              </a:lnSpc>
              <a:buChar char="•"/>
            </a:pPr>
            <a:r>
              <a:rPr lang="en-US" sz="1500" dirty="0">
                <a:latin typeface="Poppins"/>
              </a:rPr>
              <a:t>RF interface optimize up to 50Ω </a:t>
            </a:r>
          </a:p>
          <a:p>
            <a:pPr algn="just">
              <a:lnSpc>
                <a:spcPct val="150000"/>
              </a:lnSpc>
              <a:buChar char="•"/>
            </a:pPr>
            <a:r>
              <a:rPr lang="en-US" sz="1500" dirty="0">
                <a:latin typeface="Poppins"/>
              </a:rPr>
              <a:t>Output power level up to +20 dBm</a:t>
            </a:r>
          </a:p>
        </p:txBody>
      </p:sp>
      <p:pic>
        <p:nvPicPr>
          <p:cNvPr id="12" name="Picture 12" descr="A picture containing text, electronics, circuit&#10;&#10;Description automatically generated">
            <a:extLst>
              <a:ext uri="{FF2B5EF4-FFF2-40B4-BE49-F238E27FC236}">
                <a16:creationId xmlns:a16="http://schemas.microsoft.com/office/drawing/2014/main" id="{BDAD6DFC-FDF8-930B-8689-09379DD5C929}"/>
              </a:ext>
            </a:extLst>
          </p:cNvPr>
          <p:cNvPicPr>
            <a:picLocks noChangeAspect="1"/>
          </p:cNvPicPr>
          <p:nvPr/>
        </p:nvPicPr>
        <p:blipFill rotWithShape="1">
          <a:blip r:embed="rId3"/>
          <a:srcRect l="3819" b="6329"/>
          <a:stretch/>
        </p:blipFill>
        <p:spPr>
          <a:xfrm>
            <a:off x="6169626" y="2913495"/>
            <a:ext cx="5295902" cy="2821442"/>
          </a:xfrm>
          <a:prstGeom prst="rect">
            <a:avLst/>
          </a:prstGeom>
          <a:ln w="28575">
            <a:noFill/>
          </a:ln>
        </p:spPr>
      </p:pic>
      <p:sp>
        <p:nvSpPr>
          <p:cNvPr id="5" name="TextBox 4">
            <a:extLst>
              <a:ext uri="{FF2B5EF4-FFF2-40B4-BE49-F238E27FC236}">
                <a16:creationId xmlns:a16="http://schemas.microsoft.com/office/drawing/2014/main" id="{A6CCBD38-8E7A-5771-6975-82FD61499B19}"/>
              </a:ext>
            </a:extLst>
          </p:cNvPr>
          <p:cNvSpPr txBox="1"/>
          <p:nvPr/>
        </p:nvSpPr>
        <p:spPr>
          <a:xfrm>
            <a:off x="560867" y="2945883"/>
            <a:ext cx="2028825" cy="553998"/>
          </a:xfrm>
          <a:prstGeom prst="rect">
            <a:avLst/>
          </a:prstGeom>
          <a:solidFill>
            <a:srgbClr val="2E2E2E"/>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solidFill>
                  <a:srgbClr val="FFFFFF"/>
                </a:solidFill>
                <a:latin typeface="Poppins"/>
                <a:cs typeface="Calibri"/>
              </a:rPr>
              <a:t>FEATURES</a:t>
            </a:r>
            <a:endParaRPr lang="en-US">
              <a:latin typeface="Poppins"/>
              <a:cs typeface="Poppins"/>
            </a:endParaRPr>
          </a:p>
        </p:txBody>
      </p:sp>
      <p:sp>
        <p:nvSpPr>
          <p:cNvPr id="8" name="Google Shape;101;p14">
            <a:extLst>
              <a:ext uri="{FF2B5EF4-FFF2-40B4-BE49-F238E27FC236}">
                <a16:creationId xmlns:a16="http://schemas.microsoft.com/office/drawing/2014/main" id="{AF0C1CB5-CC5F-FE5D-2075-683538D4F99D}"/>
              </a:ext>
            </a:extLst>
          </p:cNvPr>
          <p:cNvSpPr/>
          <p:nvPr/>
        </p:nvSpPr>
        <p:spPr>
          <a:xfrm>
            <a:off x="411780" y="1211340"/>
            <a:ext cx="6604325" cy="150060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1500" dirty="0" err="1">
                <a:latin typeface="Poppins"/>
              </a:rPr>
              <a:t>NebuLink</a:t>
            </a:r>
            <a:r>
              <a:rPr lang="en-US" sz="1500" dirty="0">
                <a:latin typeface="Poppins"/>
              </a:rPr>
              <a:t> Node NLN500a is a compact and powerful Node for LoRa application. It is built on the STM32WL SoC which has Embedded LoRaWAN Transceiver for wide range of Smart Applications. It is useful when long range is required as it operates at 868 MHz &amp; 915 MHz Band. It offers long range, low power and secure data transmission for M2M and IoT applications. </a:t>
            </a:r>
            <a:endParaRPr lang="en-US">
              <a:latin typeface="Poppins"/>
            </a:endParaRPr>
          </a:p>
        </p:txBody>
      </p:sp>
    </p:spTree>
    <p:extLst>
      <p:ext uri="{BB962C8B-B14F-4D97-AF65-F5344CB8AC3E}">
        <p14:creationId xmlns:p14="http://schemas.microsoft.com/office/powerpoint/2010/main" val="179462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hape, rectangle&#10;&#10;Description automatically generated">
            <a:extLst>
              <a:ext uri="{FF2B5EF4-FFF2-40B4-BE49-F238E27FC236}">
                <a16:creationId xmlns:a16="http://schemas.microsoft.com/office/drawing/2014/main" id="{93B18FCC-26D8-88E5-8555-DE2C8343EB29}"/>
              </a:ext>
            </a:extLst>
          </p:cNvPr>
          <p:cNvPicPr>
            <a:picLocks noChangeAspect="1"/>
          </p:cNvPicPr>
          <p:nvPr/>
        </p:nvPicPr>
        <p:blipFill>
          <a:blip r:embed="rId2"/>
          <a:stretch>
            <a:fillRect/>
          </a:stretch>
        </p:blipFill>
        <p:spPr>
          <a:xfrm>
            <a:off x="0" y="0"/>
            <a:ext cx="12192000" cy="6858000"/>
          </a:xfrm>
          <a:prstGeom prst="rect">
            <a:avLst/>
          </a:prstGeom>
        </p:spPr>
      </p:pic>
      <p:pic>
        <p:nvPicPr>
          <p:cNvPr id="2" name="Picture 2">
            <a:extLst>
              <a:ext uri="{FF2B5EF4-FFF2-40B4-BE49-F238E27FC236}">
                <a16:creationId xmlns:a16="http://schemas.microsoft.com/office/drawing/2014/main" id="{9CDD9D4E-FFF5-CACB-F473-100DFA5C321B}"/>
              </a:ext>
            </a:extLst>
          </p:cNvPr>
          <p:cNvPicPr>
            <a:picLocks noChangeAspect="1"/>
          </p:cNvPicPr>
          <p:nvPr/>
        </p:nvPicPr>
        <p:blipFill rotWithShape="1">
          <a:blip r:embed="rId3"/>
          <a:srcRect l="30063" t="2812" r="30943" b="351"/>
          <a:stretch/>
        </p:blipFill>
        <p:spPr>
          <a:xfrm>
            <a:off x="7143750" y="1358563"/>
            <a:ext cx="2952650" cy="5246104"/>
          </a:xfrm>
          <a:prstGeom prst="rect">
            <a:avLst/>
          </a:prstGeom>
          <a:ln w="28575">
            <a:noFill/>
          </a:ln>
        </p:spPr>
      </p:pic>
      <p:sp>
        <p:nvSpPr>
          <p:cNvPr id="5" name="TextBox 4">
            <a:extLst>
              <a:ext uri="{FF2B5EF4-FFF2-40B4-BE49-F238E27FC236}">
                <a16:creationId xmlns:a16="http://schemas.microsoft.com/office/drawing/2014/main" id="{851A1BED-BB2D-A68C-3353-7CE5A7925925}"/>
              </a:ext>
            </a:extLst>
          </p:cNvPr>
          <p:cNvSpPr txBox="1"/>
          <p:nvPr/>
        </p:nvSpPr>
        <p:spPr>
          <a:xfrm>
            <a:off x="771525" y="619125"/>
            <a:ext cx="3952875" cy="553998"/>
          </a:xfrm>
          <a:prstGeom prst="rect">
            <a:avLst/>
          </a:prstGeom>
          <a:solidFill>
            <a:srgbClr val="2E2E2E"/>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rgbClr val="FFFFFF"/>
                </a:solidFill>
                <a:latin typeface="Poppins"/>
                <a:cs typeface="Calibri"/>
              </a:rPr>
              <a:t>LoRaWAN </a:t>
            </a:r>
            <a:r>
              <a:rPr lang="en-US" sz="3000">
                <a:solidFill>
                  <a:srgbClr val="EA213F"/>
                </a:solidFill>
                <a:latin typeface="Poppins"/>
                <a:cs typeface="Calibri"/>
              </a:rPr>
              <a:t>Gateway</a:t>
            </a:r>
            <a:endParaRPr lang="en-US">
              <a:solidFill>
                <a:srgbClr val="EA213F"/>
              </a:solidFill>
              <a:latin typeface="Poppins"/>
              <a:cs typeface="Poppins"/>
            </a:endParaRPr>
          </a:p>
        </p:txBody>
      </p:sp>
      <p:sp>
        <p:nvSpPr>
          <p:cNvPr id="7" name="Google Shape;101;p14">
            <a:extLst>
              <a:ext uri="{FF2B5EF4-FFF2-40B4-BE49-F238E27FC236}">
                <a16:creationId xmlns:a16="http://schemas.microsoft.com/office/drawing/2014/main" id="{3B503E24-2913-DB62-071B-C8503935D57C}"/>
              </a:ext>
            </a:extLst>
          </p:cNvPr>
          <p:cNvSpPr/>
          <p:nvPr/>
        </p:nvSpPr>
        <p:spPr>
          <a:xfrm>
            <a:off x="411780" y="3592589"/>
            <a:ext cx="4832675" cy="276742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buChar char="•"/>
            </a:pPr>
            <a:r>
              <a:rPr lang="en-US" sz="1500" dirty="0">
                <a:latin typeface="Poppins"/>
              </a:rPr>
              <a:t>Supports offline uplink LoRa packets storage up to 5000 packets </a:t>
            </a:r>
            <a:endParaRPr lang="en-US" dirty="0"/>
          </a:p>
          <a:p>
            <a:pPr algn="just">
              <a:lnSpc>
                <a:spcPct val="150000"/>
              </a:lnSpc>
              <a:buChar char="•"/>
            </a:pPr>
            <a:r>
              <a:rPr lang="en-US" sz="1500" dirty="0">
                <a:latin typeface="Poppins"/>
              </a:rPr>
              <a:t>Open-source embedded Linux system </a:t>
            </a:r>
          </a:p>
          <a:p>
            <a:pPr algn="just">
              <a:lnSpc>
                <a:spcPct val="150000"/>
              </a:lnSpc>
              <a:buChar char="•"/>
            </a:pPr>
            <a:r>
              <a:rPr lang="en-US" sz="1500" dirty="0">
                <a:latin typeface="Poppins"/>
              </a:rPr>
              <a:t>Supports Gateway bridge with TLS encryption </a:t>
            </a:r>
          </a:p>
          <a:p>
            <a:pPr algn="just">
              <a:lnSpc>
                <a:spcPct val="150000"/>
              </a:lnSpc>
              <a:buChar char="•"/>
            </a:pPr>
            <a:r>
              <a:rPr lang="en-US" sz="1500" dirty="0">
                <a:latin typeface="Poppins"/>
              </a:rPr>
              <a:t>IP68, UL94 5VA flame and NMEA 4x rated case </a:t>
            </a:r>
          </a:p>
          <a:p>
            <a:pPr algn="just">
              <a:lnSpc>
                <a:spcPct val="150000"/>
              </a:lnSpc>
              <a:buChar char="•"/>
            </a:pPr>
            <a:r>
              <a:rPr lang="en-US" sz="1500" dirty="0">
                <a:latin typeface="Poppins"/>
              </a:rPr>
              <a:t>Long range wireless data transmission </a:t>
            </a:r>
          </a:p>
          <a:p>
            <a:pPr algn="just">
              <a:lnSpc>
                <a:spcPct val="150000"/>
              </a:lnSpc>
              <a:buChar char="•"/>
            </a:pPr>
            <a:r>
              <a:rPr lang="en-US" sz="1500" dirty="0">
                <a:latin typeface="Poppins"/>
              </a:rPr>
              <a:t>External fiber glass antenna with 5 </a:t>
            </a:r>
            <a:r>
              <a:rPr lang="en-US" sz="1500" dirty="0" err="1">
                <a:latin typeface="Poppins"/>
              </a:rPr>
              <a:t>dBi</a:t>
            </a:r>
            <a:r>
              <a:rPr lang="en-US" sz="1500" dirty="0">
                <a:latin typeface="Poppins"/>
              </a:rPr>
              <a:t> gain </a:t>
            </a:r>
          </a:p>
          <a:p>
            <a:pPr algn="just">
              <a:lnSpc>
                <a:spcPct val="150000"/>
              </a:lnSpc>
              <a:buChar char="•"/>
            </a:pPr>
            <a:r>
              <a:rPr lang="en-US" sz="1500" dirty="0">
                <a:latin typeface="Poppins"/>
              </a:rPr>
              <a:t>Support of configurable State Packet </a:t>
            </a:r>
          </a:p>
        </p:txBody>
      </p:sp>
      <p:sp>
        <p:nvSpPr>
          <p:cNvPr id="6" name="TextBox 5">
            <a:extLst>
              <a:ext uri="{FF2B5EF4-FFF2-40B4-BE49-F238E27FC236}">
                <a16:creationId xmlns:a16="http://schemas.microsoft.com/office/drawing/2014/main" id="{1A1F4259-627D-12F4-FBC7-F2891D184EDF}"/>
              </a:ext>
            </a:extLst>
          </p:cNvPr>
          <p:cNvSpPr txBox="1"/>
          <p:nvPr/>
        </p:nvSpPr>
        <p:spPr>
          <a:xfrm>
            <a:off x="560867" y="2945883"/>
            <a:ext cx="2028825" cy="553998"/>
          </a:xfrm>
          <a:prstGeom prst="rect">
            <a:avLst/>
          </a:prstGeom>
          <a:solidFill>
            <a:srgbClr val="2E2E2E"/>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solidFill>
                  <a:srgbClr val="FFFFFF"/>
                </a:solidFill>
                <a:latin typeface="Poppins"/>
                <a:cs typeface="Calibri"/>
              </a:rPr>
              <a:t>FEATURES</a:t>
            </a:r>
            <a:endParaRPr lang="en-US">
              <a:latin typeface="Poppins"/>
              <a:cs typeface="Poppins"/>
            </a:endParaRPr>
          </a:p>
        </p:txBody>
      </p:sp>
      <p:sp>
        <p:nvSpPr>
          <p:cNvPr id="10" name="Google Shape;101;p14">
            <a:extLst>
              <a:ext uri="{FF2B5EF4-FFF2-40B4-BE49-F238E27FC236}">
                <a16:creationId xmlns:a16="http://schemas.microsoft.com/office/drawing/2014/main" id="{91F2553F-5EDA-F028-8621-750B5505AA08}"/>
              </a:ext>
            </a:extLst>
          </p:cNvPr>
          <p:cNvSpPr/>
          <p:nvPr/>
        </p:nvSpPr>
        <p:spPr>
          <a:xfrm>
            <a:off x="411780" y="1211340"/>
            <a:ext cx="6604325" cy="150060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1500" dirty="0">
                <a:latin typeface="Poppins"/>
              </a:rPr>
              <a:t>NLG7644 gateway is pre-programmed with a full-featured </a:t>
            </a:r>
            <a:r>
              <a:rPr lang="en-US" sz="1500" dirty="0" err="1">
                <a:latin typeface="Poppins"/>
              </a:rPr>
              <a:t>LoRaWAN</a:t>
            </a:r>
            <a:r>
              <a:rPr lang="en-US" sz="1500" baseline="30000" dirty="0" err="1">
                <a:latin typeface="Poppins"/>
              </a:rPr>
              <a:t>TM</a:t>
            </a:r>
            <a:r>
              <a:rPr lang="en-US" sz="1500" baseline="30000" dirty="0">
                <a:latin typeface="Poppins"/>
              </a:rPr>
              <a:t> </a:t>
            </a:r>
            <a:r>
              <a:rPr lang="en-US" sz="1500" dirty="0">
                <a:latin typeface="Poppins"/>
              </a:rPr>
              <a:t>network base station. It helps the LoRa devices to connect over 4G to the cloud. It has a range of over 15 km line-of-sight and over 2 km in dense urban environments. Its built-in GPS for location and timing makes it an ideal choice for remote LoRaWAN deployment. </a:t>
            </a:r>
            <a:endParaRPr lang="en-US">
              <a:latin typeface="Poppins"/>
            </a:endParaRPr>
          </a:p>
        </p:txBody>
      </p:sp>
    </p:spTree>
    <p:extLst>
      <p:ext uri="{BB962C8B-B14F-4D97-AF65-F5344CB8AC3E}">
        <p14:creationId xmlns:p14="http://schemas.microsoft.com/office/powerpoint/2010/main" val="741421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website&#10;&#10;Description automatically generated">
            <a:extLst>
              <a:ext uri="{FF2B5EF4-FFF2-40B4-BE49-F238E27FC236}">
                <a16:creationId xmlns:a16="http://schemas.microsoft.com/office/drawing/2014/main" id="{93B18FCC-26D8-88E5-8555-DE2C8343EB2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840008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hape, rectangle&#10;&#10;Description automatically generated">
            <a:extLst>
              <a:ext uri="{FF2B5EF4-FFF2-40B4-BE49-F238E27FC236}">
                <a16:creationId xmlns:a16="http://schemas.microsoft.com/office/drawing/2014/main" id="{93B18FCC-26D8-88E5-8555-DE2C8343EB29}"/>
              </a:ext>
            </a:extLst>
          </p:cNvPr>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F08A6637-5472-2A2B-8443-836F66D1A8DA}"/>
              </a:ext>
            </a:extLst>
          </p:cNvPr>
          <p:cNvSpPr txBox="1"/>
          <p:nvPr/>
        </p:nvSpPr>
        <p:spPr>
          <a:xfrm>
            <a:off x="800100" y="409575"/>
            <a:ext cx="6315075"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rgbClr val="FFFFFF"/>
                </a:solidFill>
                <a:latin typeface="Poppins"/>
                <a:cs typeface="Calibri"/>
              </a:rPr>
              <a:t>LoRaWAN Network </a:t>
            </a:r>
            <a:r>
              <a:rPr lang="en-US" sz="3000">
                <a:solidFill>
                  <a:srgbClr val="EA213F"/>
                </a:solidFill>
                <a:latin typeface="Poppins"/>
                <a:cs typeface="Calibri"/>
              </a:rPr>
              <a:t>Server (LNS)</a:t>
            </a:r>
          </a:p>
        </p:txBody>
      </p:sp>
      <p:sp>
        <p:nvSpPr>
          <p:cNvPr id="15" name="Google Shape;169;p20">
            <a:extLst>
              <a:ext uri="{FF2B5EF4-FFF2-40B4-BE49-F238E27FC236}">
                <a16:creationId xmlns:a16="http://schemas.microsoft.com/office/drawing/2014/main" id="{3F598A79-13FB-5A52-0155-8616C7A96F9E}"/>
              </a:ext>
            </a:extLst>
          </p:cNvPr>
          <p:cNvSpPr/>
          <p:nvPr/>
        </p:nvSpPr>
        <p:spPr>
          <a:xfrm rot="5400000">
            <a:off x="3932799" y="4567880"/>
            <a:ext cx="2720741" cy="137160"/>
          </a:xfrm>
          <a:prstGeom prst="rect">
            <a:avLst/>
          </a:prstGeom>
          <a:solidFill>
            <a:srgbClr val="EB243E"/>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Google Shape;101;p14">
            <a:extLst>
              <a:ext uri="{FF2B5EF4-FFF2-40B4-BE49-F238E27FC236}">
                <a16:creationId xmlns:a16="http://schemas.microsoft.com/office/drawing/2014/main" id="{4AE7638C-3F6D-164B-B70F-71D1A4ACE086}"/>
              </a:ext>
            </a:extLst>
          </p:cNvPr>
          <p:cNvSpPr/>
          <p:nvPr/>
        </p:nvSpPr>
        <p:spPr>
          <a:xfrm>
            <a:off x="411780" y="3487814"/>
            <a:ext cx="4518350" cy="31198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buChar char="•"/>
            </a:pPr>
            <a:r>
              <a:rPr lang="en-US" sz="1500" dirty="0">
                <a:latin typeface="Poppins"/>
              </a:rPr>
              <a:t>1.0x and 1.1x LoRaWAN versions </a:t>
            </a:r>
            <a:endParaRPr lang="en-US">
              <a:latin typeface="Poppins"/>
            </a:endParaRPr>
          </a:p>
          <a:p>
            <a:pPr algn="just">
              <a:lnSpc>
                <a:spcPct val="150000"/>
              </a:lnSpc>
              <a:buChar char="•"/>
            </a:pPr>
            <a:r>
              <a:rPr lang="en-US" sz="1500" dirty="0">
                <a:latin typeface="Poppins"/>
              </a:rPr>
              <a:t>Supports A, B, and C device classes </a:t>
            </a:r>
            <a:endParaRPr lang="en-US">
              <a:latin typeface="Poppins"/>
            </a:endParaRPr>
          </a:p>
          <a:p>
            <a:pPr algn="just">
              <a:lnSpc>
                <a:spcPct val="150000"/>
              </a:lnSpc>
              <a:buChar char="•"/>
            </a:pPr>
            <a:r>
              <a:rPr lang="en-US" sz="1500" dirty="0">
                <a:latin typeface="Poppins"/>
              </a:rPr>
              <a:t>Remote multi-cast </a:t>
            </a:r>
            <a:endParaRPr lang="en-US">
              <a:latin typeface="Poppins"/>
            </a:endParaRPr>
          </a:p>
          <a:p>
            <a:pPr algn="just">
              <a:lnSpc>
                <a:spcPct val="150000"/>
              </a:lnSpc>
              <a:buChar char="•"/>
            </a:pPr>
            <a:r>
              <a:rPr lang="en-US" sz="1500" dirty="0">
                <a:latin typeface="Poppins"/>
              </a:rPr>
              <a:t>Third party output format integration </a:t>
            </a:r>
            <a:endParaRPr lang="en-US">
              <a:latin typeface="Poppins"/>
            </a:endParaRPr>
          </a:p>
          <a:p>
            <a:pPr algn="just">
              <a:lnSpc>
                <a:spcPct val="150000"/>
              </a:lnSpc>
              <a:buChar char="•"/>
            </a:pPr>
            <a:r>
              <a:rPr lang="en-US" sz="1500" dirty="0">
                <a:latin typeface="Poppins"/>
              </a:rPr>
              <a:t>Geo-location </a:t>
            </a:r>
            <a:endParaRPr lang="en-US">
              <a:latin typeface="Poppins"/>
            </a:endParaRPr>
          </a:p>
          <a:p>
            <a:pPr algn="just">
              <a:lnSpc>
                <a:spcPct val="150000"/>
              </a:lnSpc>
              <a:buChar char="•"/>
            </a:pPr>
            <a:r>
              <a:rPr lang="en-US" sz="1500" dirty="0">
                <a:latin typeface="Poppins"/>
              </a:rPr>
              <a:t>Secured communication with AES 128 and SSL/TLS </a:t>
            </a:r>
            <a:endParaRPr lang="en-US">
              <a:latin typeface="Poppins"/>
            </a:endParaRPr>
          </a:p>
          <a:p>
            <a:pPr algn="just">
              <a:lnSpc>
                <a:spcPct val="150000"/>
              </a:lnSpc>
              <a:buChar char="•"/>
            </a:pPr>
            <a:r>
              <a:rPr lang="en-US" sz="1500" dirty="0">
                <a:latin typeface="Poppins"/>
              </a:rPr>
              <a:t>Public cloud, private cloud, as well as on-premise deployment options </a:t>
            </a:r>
            <a:endParaRPr lang="en-US">
              <a:latin typeface="Poppins"/>
            </a:endParaRPr>
          </a:p>
        </p:txBody>
      </p:sp>
      <p:sp>
        <p:nvSpPr>
          <p:cNvPr id="9" name="Google Shape;101;p14">
            <a:extLst>
              <a:ext uri="{FF2B5EF4-FFF2-40B4-BE49-F238E27FC236}">
                <a16:creationId xmlns:a16="http://schemas.microsoft.com/office/drawing/2014/main" id="{7F2BCA0F-CB47-964B-1A05-93112B2A5E28}"/>
              </a:ext>
            </a:extLst>
          </p:cNvPr>
          <p:cNvSpPr/>
          <p:nvPr/>
        </p:nvSpPr>
        <p:spPr>
          <a:xfrm>
            <a:off x="440355" y="1458990"/>
            <a:ext cx="11498887" cy="109102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1500" dirty="0">
                <a:latin typeface="Poppins"/>
              </a:rPr>
              <a:t>Nebulae's LoRaWAN Network Server (LNS) is software for the operation and management of LoRaWAN networks. Nebulae's LNS enables connectivity, management, and monitoring of devices, gateways, and end-user applications. Its main objectives are to ensure the security, scalability, and reliability of data routing throughout the network with the maintenance of Low-Cost Deployment. </a:t>
            </a:r>
            <a:endParaRPr lang="en-US" dirty="0">
              <a:latin typeface="Poppins"/>
            </a:endParaRPr>
          </a:p>
        </p:txBody>
      </p:sp>
      <p:pic>
        <p:nvPicPr>
          <p:cNvPr id="2" name="Picture 2" descr="Diagram, schematic&#10;&#10;Description automatically generated">
            <a:extLst>
              <a:ext uri="{FF2B5EF4-FFF2-40B4-BE49-F238E27FC236}">
                <a16:creationId xmlns:a16="http://schemas.microsoft.com/office/drawing/2014/main" id="{E44F65A0-2363-2597-07E6-C27D7FAF4398}"/>
              </a:ext>
            </a:extLst>
          </p:cNvPr>
          <p:cNvPicPr>
            <a:picLocks noChangeAspect="1"/>
          </p:cNvPicPr>
          <p:nvPr/>
        </p:nvPicPr>
        <p:blipFill>
          <a:blip r:embed="rId3"/>
          <a:stretch>
            <a:fillRect/>
          </a:stretch>
        </p:blipFill>
        <p:spPr>
          <a:xfrm>
            <a:off x="5334000" y="2650875"/>
            <a:ext cx="6858000" cy="3908926"/>
          </a:xfrm>
          <a:prstGeom prst="rect">
            <a:avLst/>
          </a:prstGeom>
        </p:spPr>
      </p:pic>
      <p:sp>
        <p:nvSpPr>
          <p:cNvPr id="6" name="TextBox 5">
            <a:extLst>
              <a:ext uri="{FF2B5EF4-FFF2-40B4-BE49-F238E27FC236}">
                <a16:creationId xmlns:a16="http://schemas.microsoft.com/office/drawing/2014/main" id="{FE5F1283-495A-F79E-5B8E-E1F00F95E07A}"/>
              </a:ext>
            </a:extLst>
          </p:cNvPr>
          <p:cNvSpPr txBox="1"/>
          <p:nvPr/>
        </p:nvSpPr>
        <p:spPr>
          <a:xfrm>
            <a:off x="560867" y="2879208"/>
            <a:ext cx="2028825" cy="553998"/>
          </a:xfrm>
          <a:prstGeom prst="rect">
            <a:avLst/>
          </a:prstGeom>
          <a:solidFill>
            <a:srgbClr val="2E2E2E"/>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solidFill>
                  <a:srgbClr val="FFFFFF"/>
                </a:solidFill>
                <a:latin typeface="Poppins"/>
                <a:cs typeface="Calibri"/>
              </a:rPr>
              <a:t>FEATURES</a:t>
            </a:r>
            <a:endParaRPr lang="en-US">
              <a:latin typeface="Poppins"/>
              <a:cs typeface="Poppins"/>
            </a:endParaRPr>
          </a:p>
        </p:txBody>
      </p:sp>
    </p:spTree>
    <p:extLst>
      <p:ext uri="{BB962C8B-B14F-4D97-AF65-F5344CB8AC3E}">
        <p14:creationId xmlns:p14="http://schemas.microsoft.com/office/powerpoint/2010/main" val="1994734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4" descr="Shape, rectangle&#10;&#10;Description automatically generated">
            <a:extLst>
              <a:ext uri="{FF2B5EF4-FFF2-40B4-BE49-F238E27FC236}">
                <a16:creationId xmlns:a16="http://schemas.microsoft.com/office/drawing/2014/main" id="{93B18FCC-26D8-88E5-8555-DE2C8343EB29}"/>
              </a:ext>
            </a:extLst>
          </p:cNvPr>
          <p:cNvPicPr>
            <a:picLocks noChangeAspect="1"/>
          </p:cNvPicPr>
          <p:nvPr/>
        </p:nvPicPr>
        <p:blipFill>
          <a:blip r:embed="rId3"/>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86FD88B5-A0C1-52EC-1C28-27C006364B0F}"/>
              </a:ext>
            </a:extLst>
          </p:cNvPr>
          <p:cNvSpPr txBox="1"/>
          <p:nvPr/>
        </p:nvSpPr>
        <p:spPr>
          <a:xfrm>
            <a:off x="800100" y="409575"/>
            <a:ext cx="7305675"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rgbClr val="FFFFFF"/>
                </a:solidFill>
                <a:latin typeface="Poppins"/>
                <a:cs typeface="Calibri"/>
              </a:rPr>
              <a:t>Network Management </a:t>
            </a:r>
            <a:r>
              <a:rPr lang="en-US" sz="3000">
                <a:solidFill>
                  <a:srgbClr val="EA213F"/>
                </a:solidFill>
                <a:latin typeface="Poppins"/>
                <a:cs typeface="Calibri"/>
              </a:rPr>
              <a:t>Server (NMS)</a:t>
            </a:r>
          </a:p>
        </p:txBody>
      </p:sp>
      <p:sp>
        <p:nvSpPr>
          <p:cNvPr id="9" name="Google Shape;169;p20">
            <a:extLst>
              <a:ext uri="{FF2B5EF4-FFF2-40B4-BE49-F238E27FC236}">
                <a16:creationId xmlns:a16="http://schemas.microsoft.com/office/drawing/2014/main" id="{EB80EFF2-3656-9C96-E535-1A9701A543D7}"/>
              </a:ext>
            </a:extLst>
          </p:cNvPr>
          <p:cNvSpPr/>
          <p:nvPr/>
        </p:nvSpPr>
        <p:spPr>
          <a:xfrm rot="5400000">
            <a:off x="3932799" y="4567880"/>
            <a:ext cx="2720741" cy="137160"/>
          </a:xfrm>
          <a:prstGeom prst="rect">
            <a:avLst/>
          </a:prstGeom>
          <a:solidFill>
            <a:srgbClr val="EB243E"/>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 name="Google Shape;101;p14">
            <a:extLst>
              <a:ext uri="{FF2B5EF4-FFF2-40B4-BE49-F238E27FC236}">
                <a16:creationId xmlns:a16="http://schemas.microsoft.com/office/drawing/2014/main" id="{633B0EEE-6B36-3013-0117-25FBEE2F03FD}"/>
              </a:ext>
            </a:extLst>
          </p:cNvPr>
          <p:cNvSpPr/>
          <p:nvPr/>
        </p:nvSpPr>
        <p:spPr>
          <a:xfrm>
            <a:off x="411780" y="3487814"/>
            <a:ext cx="4518350" cy="31198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buChar char="•"/>
            </a:pPr>
            <a:r>
              <a:rPr lang="en-US" sz="1500" dirty="0">
                <a:latin typeface="Poppins"/>
              </a:rPr>
              <a:t>1.0x and 1.1x LoRaWAN versions </a:t>
            </a:r>
            <a:endParaRPr lang="en-US">
              <a:latin typeface="Poppins"/>
            </a:endParaRPr>
          </a:p>
          <a:p>
            <a:pPr algn="just">
              <a:lnSpc>
                <a:spcPct val="150000"/>
              </a:lnSpc>
              <a:buChar char="•"/>
            </a:pPr>
            <a:r>
              <a:rPr lang="en-US" sz="1500" dirty="0">
                <a:latin typeface="Poppins"/>
              </a:rPr>
              <a:t>Supports A, B, and C device classes </a:t>
            </a:r>
            <a:endParaRPr lang="en-US">
              <a:latin typeface="Poppins"/>
            </a:endParaRPr>
          </a:p>
          <a:p>
            <a:pPr algn="just">
              <a:lnSpc>
                <a:spcPct val="150000"/>
              </a:lnSpc>
              <a:buChar char="•"/>
            </a:pPr>
            <a:r>
              <a:rPr lang="en-US" sz="1500" dirty="0">
                <a:latin typeface="Poppins"/>
              </a:rPr>
              <a:t>Remote multi-cast </a:t>
            </a:r>
            <a:endParaRPr lang="en-US">
              <a:latin typeface="Poppins"/>
            </a:endParaRPr>
          </a:p>
          <a:p>
            <a:pPr algn="just">
              <a:lnSpc>
                <a:spcPct val="150000"/>
              </a:lnSpc>
              <a:buChar char="•"/>
            </a:pPr>
            <a:r>
              <a:rPr lang="en-US" sz="1500" dirty="0">
                <a:latin typeface="Poppins"/>
              </a:rPr>
              <a:t>Third party output format integration </a:t>
            </a:r>
            <a:endParaRPr lang="en-US">
              <a:latin typeface="Poppins"/>
            </a:endParaRPr>
          </a:p>
          <a:p>
            <a:pPr algn="just">
              <a:lnSpc>
                <a:spcPct val="150000"/>
              </a:lnSpc>
              <a:buChar char="•"/>
            </a:pPr>
            <a:r>
              <a:rPr lang="en-US" sz="1500" dirty="0">
                <a:latin typeface="Poppins"/>
              </a:rPr>
              <a:t>Geo-location </a:t>
            </a:r>
            <a:endParaRPr lang="en-US">
              <a:latin typeface="Poppins"/>
            </a:endParaRPr>
          </a:p>
          <a:p>
            <a:pPr algn="just">
              <a:lnSpc>
                <a:spcPct val="150000"/>
              </a:lnSpc>
              <a:buChar char="•"/>
            </a:pPr>
            <a:r>
              <a:rPr lang="en-US" sz="1500" dirty="0">
                <a:latin typeface="Poppins"/>
              </a:rPr>
              <a:t>Secured communication with AES 128 and SSL/TLS </a:t>
            </a:r>
            <a:endParaRPr lang="en-US">
              <a:latin typeface="Poppins"/>
            </a:endParaRPr>
          </a:p>
          <a:p>
            <a:pPr algn="just">
              <a:lnSpc>
                <a:spcPct val="150000"/>
              </a:lnSpc>
              <a:buChar char="•"/>
            </a:pPr>
            <a:r>
              <a:rPr lang="en-US" sz="1500" dirty="0">
                <a:latin typeface="Poppins"/>
              </a:rPr>
              <a:t>Public cloud, private cloud, as well as on-premise deployment options </a:t>
            </a:r>
            <a:endParaRPr lang="en-US">
              <a:latin typeface="Poppins"/>
            </a:endParaRPr>
          </a:p>
        </p:txBody>
      </p:sp>
      <p:sp>
        <p:nvSpPr>
          <p:cNvPr id="16" name="Google Shape;101;p14">
            <a:extLst>
              <a:ext uri="{FF2B5EF4-FFF2-40B4-BE49-F238E27FC236}">
                <a16:creationId xmlns:a16="http://schemas.microsoft.com/office/drawing/2014/main" id="{60463CE3-216F-5165-45DD-D0EA1BDC6FEC}"/>
              </a:ext>
            </a:extLst>
          </p:cNvPr>
          <p:cNvSpPr/>
          <p:nvPr/>
        </p:nvSpPr>
        <p:spPr>
          <a:xfrm>
            <a:off x="440355" y="1458990"/>
            <a:ext cx="11498887" cy="109102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1500" dirty="0">
                <a:latin typeface="Poppins"/>
              </a:rPr>
              <a:t>Nebulae's LoRaWAN Network Server (LNS) is software for the operation and management of LoRaWAN networks. Nebulae's LNS enables connectivity, management, and monitoring of devices, gateways, and end-user applications. Its main objectives are to ensure the security, scalability, and reliability of data routing throughout the network with the maintenance of Low-Cost Deployment. </a:t>
            </a:r>
            <a:endParaRPr lang="en-US" dirty="0">
              <a:latin typeface="Poppins"/>
            </a:endParaRPr>
          </a:p>
        </p:txBody>
      </p:sp>
      <p:pic>
        <p:nvPicPr>
          <p:cNvPr id="20" name="Picture 2" descr="Diagram, schematic&#10;&#10;Description automatically generated">
            <a:extLst>
              <a:ext uri="{FF2B5EF4-FFF2-40B4-BE49-F238E27FC236}">
                <a16:creationId xmlns:a16="http://schemas.microsoft.com/office/drawing/2014/main" id="{7A36ED58-B604-08EE-B3FD-B5F8BB5DCE9C}"/>
              </a:ext>
            </a:extLst>
          </p:cNvPr>
          <p:cNvPicPr>
            <a:picLocks noChangeAspect="1"/>
          </p:cNvPicPr>
          <p:nvPr/>
        </p:nvPicPr>
        <p:blipFill>
          <a:blip r:embed="rId4"/>
          <a:stretch>
            <a:fillRect/>
          </a:stretch>
        </p:blipFill>
        <p:spPr>
          <a:xfrm>
            <a:off x="5334000" y="2650875"/>
            <a:ext cx="6858000" cy="3908926"/>
          </a:xfrm>
          <a:prstGeom prst="rect">
            <a:avLst/>
          </a:prstGeom>
        </p:spPr>
      </p:pic>
      <p:sp>
        <p:nvSpPr>
          <p:cNvPr id="22" name="TextBox 21">
            <a:extLst>
              <a:ext uri="{FF2B5EF4-FFF2-40B4-BE49-F238E27FC236}">
                <a16:creationId xmlns:a16="http://schemas.microsoft.com/office/drawing/2014/main" id="{73F0DD14-1937-DA12-5374-64153CCC8D70}"/>
              </a:ext>
            </a:extLst>
          </p:cNvPr>
          <p:cNvSpPr txBox="1"/>
          <p:nvPr/>
        </p:nvSpPr>
        <p:spPr>
          <a:xfrm>
            <a:off x="560867" y="2879208"/>
            <a:ext cx="2028825" cy="553998"/>
          </a:xfrm>
          <a:prstGeom prst="rect">
            <a:avLst/>
          </a:prstGeom>
          <a:solidFill>
            <a:srgbClr val="2E2E2E"/>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solidFill>
                  <a:srgbClr val="FFFFFF"/>
                </a:solidFill>
                <a:latin typeface="Poppins"/>
                <a:cs typeface="Calibri"/>
              </a:rPr>
              <a:t>FEATURES</a:t>
            </a:r>
            <a:endParaRPr lang="en-US">
              <a:latin typeface="Poppins"/>
              <a:cs typeface="Poppins"/>
            </a:endParaRPr>
          </a:p>
        </p:txBody>
      </p:sp>
    </p:spTree>
    <p:extLst>
      <p:ext uri="{BB962C8B-B14F-4D97-AF65-F5344CB8AC3E}">
        <p14:creationId xmlns:p14="http://schemas.microsoft.com/office/powerpoint/2010/main" val="2945285601"/>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hape, rectangle&#10;&#10;Description automatically generated">
            <a:extLst>
              <a:ext uri="{FF2B5EF4-FFF2-40B4-BE49-F238E27FC236}">
                <a16:creationId xmlns:a16="http://schemas.microsoft.com/office/drawing/2014/main" id="{93B18FCC-26D8-88E5-8555-DE2C8343EB29}"/>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6FF8A7DC-D546-4C3E-B3B1-1D8E17BBA977}"/>
              </a:ext>
            </a:extLst>
          </p:cNvPr>
          <p:cNvSpPr txBox="1"/>
          <p:nvPr/>
        </p:nvSpPr>
        <p:spPr>
          <a:xfrm>
            <a:off x="800100" y="409575"/>
            <a:ext cx="4772025"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rgbClr val="FFFFFF"/>
                </a:solidFill>
                <a:latin typeface="Poppins"/>
                <a:cs typeface="Calibri"/>
              </a:rPr>
              <a:t>Head End </a:t>
            </a:r>
            <a:r>
              <a:rPr lang="en-US" sz="3000">
                <a:solidFill>
                  <a:srgbClr val="EA213F"/>
                </a:solidFill>
                <a:latin typeface="Poppins"/>
                <a:cs typeface="Calibri"/>
              </a:rPr>
              <a:t>System (HES)</a:t>
            </a:r>
          </a:p>
        </p:txBody>
      </p:sp>
      <p:sp>
        <p:nvSpPr>
          <p:cNvPr id="8" name="Google Shape;101;p14">
            <a:extLst>
              <a:ext uri="{FF2B5EF4-FFF2-40B4-BE49-F238E27FC236}">
                <a16:creationId xmlns:a16="http://schemas.microsoft.com/office/drawing/2014/main" id="{B64A271B-2C25-EBE4-F469-A0226BA2DDB5}"/>
              </a:ext>
            </a:extLst>
          </p:cNvPr>
          <p:cNvSpPr/>
          <p:nvPr/>
        </p:nvSpPr>
        <p:spPr>
          <a:xfrm>
            <a:off x="411780" y="3516389"/>
            <a:ext cx="4202697" cy="310988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buChar char="•"/>
            </a:pPr>
            <a:r>
              <a:rPr lang="en-US" sz="1500" dirty="0">
                <a:latin typeface="Poppins"/>
              </a:rPr>
              <a:t>Compatible with all meter types </a:t>
            </a:r>
            <a:endParaRPr lang="en-US" dirty="0"/>
          </a:p>
          <a:p>
            <a:pPr algn="just">
              <a:lnSpc>
                <a:spcPct val="150000"/>
              </a:lnSpc>
              <a:buChar char="•"/>
            </a:pPr>
            <a:r>
              <a:rPr lang="en-US" sz="1500" dirty="0">
                <a:latin typeface="Poppins"/>
              </a:rPr>
              <a:t>Prepaid metering support </a:t>
            </a:r>
          </a:p>
          <a:p>
            <a:pPr algn="just">
              <a:lnSpc>
                <a:spcPct val="150000"/>
              </a:lnSpc>
              <a:buChar char="•"/>
            </a:pPr>
            <a:r>
              <a:rPr lang="en-US" sz="1500" dirty="0">
                <a:latin typeface="Poppins"/>
              </a:rPr>
              <a:t>Displays collected data using GUI </a:t>
            </a:r>
          </a:p>
          <a:p>
            <a:pPr algn="just">
              <a:lnSpc>
                <a:spcPct val="150000"/>
              </a:lnSpc>
              <a:buChar char="•"/>
            </a:pPr>
            <a:r>
              <a:rPr lang="en-US" sz="1500" dirty="0">
                <a:latin typeface="Poppins"/>
              </a:rPr>
              <a:t>Provides site-specific information </a:t>
            </a:r>
          </a:p>
          <a:p>
            <a:pPr algn="just">
              <a:lnSpc>
                <a:spcPct val="150000"/>
              </a:lnSpc>
              <a:buChar char="•"/>
            </a:pPr>
            <a:r>
              <a:rPr lang="en-US" sz="1500" dirty="0">
                <a:latin typeface="Poppins"/>
              </a:rPr>
              <a:t>Prevents network overload </a:t>
            </a:r>
          </a:p>
          <a:p>
            <a:pPr algn="just">
              <a:lnSpc>
                <a:spcPct val="150000"/>
              </a:lnSpc>
              <a:buChar char="•"/>
            </a:pPr>
            <a:r>
              <a:rPr lang="en-US" sz="1500" dirty="0">
                <a:latin typeface="Poppins"/>
              </a:rPr>
              <a:t>Uses standard connectors for popular ERP and billing systems </a:t>
            </a:r>
          </a:p>
          <a:p>
            <a:pPr algn="just">
              <a:lnSpc>
                <a:spcPct val="150000"/>
              </a:lnSpc>
              <a:buChar char="•"/>
            </a:pPr>
            <a:r>
              <a:rPr lang="en-US" sz="1500" dirty="0">
                <a:latin typeface="Poppins"/>
              </a:rPr>
              <a:t>Designed to support IS 15959 and IS16444 global AMI    standards for DLMS/COSEM </a:t>
            </a:r>
          </a:p>
        </p:txBody>
      </p:sp>
      <p:sp>
        <p:nvSpPr>
          <p:cNvPr id="10" name="Google Shape;101;p14">
            <a:extLst>
              <a:ext uri="{FF2B5EF4-FFF2-40B4-BE49-F238E27FC236}">
                <a16:creationId xmlns:a16="http://schemas.microsoft.com/office/drawing/2014/main" id="{B7C4B7DE-AADA-E76B-DC9D-55D0E77AE5E1}"/>
              </a:ext>
            </a:extLst>
          </p:cNvPr>
          <p:cNvSpPr/>
          <p:nvPr/>
        </p:nvSpPr>
        <p:spPr>
          <a:xfrm>
            <a:off x="440355" y="1363740"/>
            <a:ext cx="11432212" cy="12148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1500">
                <a:latin typeface="Poppins"/>
              </a:rPr>
              <a:t>HES for Smart Metering is our scalable Head End Data acquisition solution for Advanced Metering Infrastructure (AMI). The IoT-based solution monitors &amp; controls smart meters operating as a communication driver between MDM Systems and measurement devices. The HES collects system-wide telemetry data &amp; enables integration with smart energy devices with seamless interoperability, enhancing business intelligence, operational efficiency and system-wide remote device management.</a:t>
            </a:r>
          </a:p>
        </p:txBody>
      </p:sp>
      <p:sp>
        <p:nvSpPr>
          <p:cNvPr id="12" name="TextBox 11">
            <a:extLst>
              <a:ext uri="{FF2B5EF4-FFF2-40B4-BE49-F238E27FC236}">
                <a16:creationId xmlns:a16="http://schemas.microsoft.com/office/drawing/2014/main" id="{37DB8394-9741-C802-1C6A-9C03BB2908C3}"/>
              </a:ext>
            </a:extLst>
          </p:cNvPr>
          <p:cNvSpPr txBox="1"/>
          <p:nvPr/>
        </p:nvSpPr>
        <p:spPr>
          <a:xfrm>
            <a:off x="560867" y="2879208"/>
            <a:ext cx="2028825" cy="553998"/>
          </a:xfrm>
          <a:prstGeom prst="rect">
            <a:avLst/>
          </a:prstGeom>
          <a:solidFill>
            <a:srgbClr val="2E2E2E"/>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solidFill>
                  <a:srgbClr val="FFFFFF"/>
                </a:solidFill>
                <a:latin typeface="Poppins"/>
                <a:cs typeface="Calibri"/>
              </a:rPr>
              <a:t>FEATURES</a:t>
            </a:r>
            <a:endParaRPr lang="en-US">
              <a:latin typeface="Poppins"/>
              <a:cs typeface="Poppins"/>
            </a:endParaRPr>
          </a:p>
        </p:txBody>
      </p:sp>
      <p:sp>
        <p:nvSpPr>
          <p:cNvPr id="5" name="Google Shape;169;p20">
            <a:extLst>
              <a:ext uri="{FF2B5EF4-FFF2-40B4-BE49-F238E27FC236}">
                <a16:creationId xmlns:a16="http://schemas.microsoft.com/office/drawing/2014/main" id="{947F17A2-A54D-8150-D30F-5E140E424094}"/>
              </a:ext>
            </a:extLst>
          </p:cNvPr>
          <p:cNvSpPr/>
          <p:nvPr/>
        </p:nvSpPr>
        <p:spPr>
          <a:xfrm rot="5400000">
            <a:off x="3932799" y="4567880"/>
            <a:ext cx="2720741" cy="137160"/>
          </a:xfrm>
          <a:prstGeom prst="rect">
            <a:avLst/>
          </a:prstGeom>
          <a:solidFill>
            <a:srgbClr val="EB243E"/>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5" name="Picture 15" descr="Diagram&#10;&#10;Description automatically generated">
            <a:extLst>
              <a:ext uri="{FF2B5EF4-FFF2-40B4-BE49-F238E27FC236}">
                <a16:creationId xmlns:a16="http://schemas.microsoft.com/office/drawing/2014/main" id="{7A483779-FF4A-57C3-00B8-74DF0ED029E2}"/>
              </a:ext>
            </a:extLst>
          </p:cNvPr>
          <p:cNvPicPr>
            <a:picLocks noChangeAspect="1"/>
          </p:cNvPicPr>
          <p:nvPr/>
        </p:nvPicPr>
        <p:blipFill>
          <a:blip r:embed="rId3"/>
          <a:stretch>
            <a:fillRect/>
          </a:stretch>
        </p:blipFill>
        <p:spPr>
          <a:xfrm>
            <a:off x="5334000" y="2654736"/>
            <a:ext cx="6858000" cy="3920253"/>
          </a:xfrm>
          <a:prstGeom prst="rect">
            <a:avLst/>
          </a:prstGeom>
        </p:spPr>
      </p:pic>
    </p:spTree>
    <p:extLst>
      <p:ext uri="{BB962C8B-B14F-4D97-AF65-F5344CB8AC3E}">
        <p14:creationId xmlns:p14="http://schemas.microsoft.com/office/powerpoint/2010/main" val="1983242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ircle&#10;&#10;Description automatically generated">
            <a:extLst>
              <a:ext uri="{FF2B5EF4-FFF2-40B4-BE49-F238E27FC236}">
                <a16:creationId xmlns:a16="http://schemas.microsoft.com/office/drawing/2014/main" id="{93B18FCC-26D8-88E5-8555-DE2C8343EB29}"/>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BB43E57B-5A51-741A-B6FA-300C02138E22}"/>
              </a:ext>
            </a:extLst>
          </p:cNvPr>
          <p:cNvSpPr txBox="1"/>
          <p:nvPr/>
        </p:nvSpPr>
        <p:spPr>
          <a:xfrm>
            <a:off x="800100" y="409575"/>
            <a:ext cx="2200275"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rgbClr val="FFFFFF"/>
                </a:solidFill>
                <a:latin typeface="Poppins"/>
                <a:cs typeface="Calibri"/>
              </a:rPr>
              <a:t>Use </a:t>
            </a:r>
            <a:r>
              <a:rPr lang="en-US" sz="3000">
                <a:solidFill>
                  <a:srgbClr val="EA213F"/>
                </a:solidFill>
                <a:latin typeface="Poppins"/>
                <a:cs typeface="Calibri"/>
              </a:rPr>
              <a:t>Cases</a:t>
            </a:r>
          </a:p>
        </p:txBody>
      </p:sp>
      <p:pic>
        <p:nvPicPr>
          <p:cNvPr id="5" name="Picture 5" descr="A picture containing text, white&#10;&#10;Description automatically generated">
            <a:extLst>
              <a:ext uri="{FF2B5EF4-FFF2-40B4-BE49-F238E27FC236}">
                <a16:creationId xmlns:a16="http://schemas.microsoft.com/office/drawing/2014/main" id="{5D3A2C38-FF49-69BD-9B2C-FA07E0BBBDE7}"/>
              </a:ext>
            </a:extLst>
          </p:cNvPr>
          <p:cNvPicPr>
            <a:picLocks noChangeAspect="1"/>
          </p:cNvPicPr>
          <p:nvPr/>
        </p:nvPicPr>
        <p:blipFill>
          <a:blip r:embed="rId3"/>
          <a:stretch>
            <a:fillRect/>
          </a:stretch>
        </p:blipFill>
        <p:spPr>
          <a:xfrm>
            <a:off x="350623" y="2172472"/>
            <a:ext cx="3251630" cy="2711021"/>
          </a:xfrm>
          <a:prstGeom prst="rect">
            <a:avLst/>
          </a:prstGeom>
        </p:spPr>
      </p:pic>
      <p:pic>
        <p:nvPicPr>
          <p:cNvPr id="8" name="Picture 8">
            <a:extLst>
              <a:ext uri="{FF2B5EF4-FFF2-40B4-BE49-F238E27FC236}">
                <a16:creationId xmlns:a16="http://schemas.microsoft.com/office/drawing/2014/main" id="{F7AFF77B-B519-3783-295E-E67E775473A6}"/>
              </a:ext>
            </a:extLst>
          </p:cNvPr>
          <p:cNvPicPr>
            <a:picLocks noChangeAspect="1"/>
          </p:cNvPicPr>
          <p:nvPr/>
        </p:nvPicPr>
        <p:blipFill>
          <a:blip r:embed="rId4"/>
          <a:stretch>
            <a:fillRect/>
          </a:stretch>
        </p:blipFill>
        <p:spPr>
          <a:xfrm rot="-180000">
            <a:off x="8940724" y="1560040"/>
            <a:ext cx="1883698" cy="3524250"/>
          </a:xfrm>
          <a:prstGeom prst="rect">
            <a:avLst/>
          </a:prstGeom>
        </p:spPr>
      </p:pic>
      <p:pic>
        <p:nvPicPr>
          <p:cNvPr id="9" name="Picture 9" descr="A picture containing text, electronics&#10;&#10;Description automatically generated">
            <a:extLst>
              <a:ext uri="{FF2B5EF4-FFF2-40B4-BE49-F238E27FC236}">
                <a16:creationId xmlns:a16="http://schemas.microsoft.com/office/drawing/2014/main" id="{127ABF2D-0FDA-29ED-1F5F-E754F0754C61}"/>
              </a:ext>
            </a:extLst>
          </p:cNvPr>
          <p:cNvPicPr>
            <a:picLocks noChangeAspect="1"/>
          </p:cNvPicPr>
          <p:nvPr/>
        </p:nvPicPr>
        <p:blipFill rotWithShape="1">
          <a:blip r:embed="rId5"/>
          <a:srcRect l="13412" t="13445" r="13647" b="7563"/>
          <a:stretch/>
        </p:blipFill>
        <p:spPr>
          <a:xfrm>
            <a:off x="4518456" y="2751864"/>
            <a:ext cx="3053796" cy="1857722"/>
          </a:xfrm>
          <a:prstGeom prst="rect">
            <a:avLst/>
          </a:prstGeom>
        </p:spPr>
      </p:pic>
      <p:sp>
        <p:nvSpPr>
          <p:cNvPr id="13" name="Google Shape;170;p20">
            <a:extLst>
              <a:ext uri="{FF2B5EF4-FFF2-40B4-BE49-F238E27FC236}">
                <a16:creationId xmlns:a16="http://schemas.microsoft.com/office/drawing/2014/main" id="{6A41512D-0938-056C-CF12-79DF98A924DA}"/>
              </a:ext>
            </a:extLst>
          </p:cNvPr>
          <p:cNvSpPr/>
          <p:nvPr/>
        </p:nvSpPr>
        <p:spPr>
          <a:xfrm>
            <a:off x="1321005" y="5561098"/>
            <a:ext cx="1306093" cy="2653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500">
                <a:latin typeface="Poppins"/>
              </a:rPr>
              <a:t>Water AMR</a:t>
            </a:r>
          </a:p>
        </p:txBody>
      </p:sp>
      <p:sp>
        <p:nvSpPr>
          <p:cNvPr id="14" name="Google Shape;170;p20">
            <a:extLst>
              <a:ext uri="{FF2B5EF4-FFF2-40B4-BE49-F238E27FC236}">
                <a16:creationId xmlns:a16="http://schemas.microsoft.com/office/drawing/2014/main" id="{6E2102E7-F78D-B6CF-221F-8960566D4173}"/>
              </a:ext>
            </a:extLst>
          </p:cNvPr>
          <p:cNvSpPr/>
          <p:nvPr/>
        </p:nvSpPr>
        <p:spPr>
          <a:xfrm>
            <a:off x="9551179" y="5561098"/>
            <a:ext cx="1048661" cy="2653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500">
                <a:latin typeface="Poppins"/>
              </a:rPr>
              <a:t>Gas AMR</a:t>
            </a:r>
          </a:p>
        </p:txBody>
      </p:sp>
      <p:sp>
        <p:nvSpPr>
          <p:cNvPr id="15" name="Google Shape;170;p20">
            <a:extLst>
              <a:ext uri="{FF2B5EF4-FFF2-40B4-BE49-F238E27FC236}">
                <a16:creationId xmlns:a16="http://schemas.microsoft.com/office/drawing/2014/main" id="{F742E5B9-AD01-8DF4-00AB-0778FB2688A4}"/>
              </a:ext>
            </a:extLst>
          </p:cNvPr>
          <p:cNvSpPr/>
          <p:nvPr/>
        </p:nvSpPr>
        <p:spPr>
          <a:xfrm>
            <a:off x="5190154" y="5560379"/>
            <a:ext cx="1399009" cy="2688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500">
                <a:latin typeface="Poppins"/>
              </a:rPr>
              <a:t>RF NIC Card</a:t>
            </a:r>
          </a:p>
        </p:txBody>
      </p:sp>
    </p:spTree>
    <p:extLst>
      <p:ext uri="{BB962C8B-B14F-4D97-AF65-F5344CB8AC3E}">
        <p14:creationId xmlns:p14="http://schemas.microsoft.com/office/powerpoint/2010/main" val="385532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93B18FCC-26D8-88E5-8555-DE2C8343EB2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3229818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6b81bd6-1ff5-4a6b-b593-c2bd8dbf5cc5" xsi:nil="true"/>
    <lcf76f155ced4ddcb4097134ff3c332f xmlns="1cf3cc67-8aff-41b7-90ef-e2ab2d63d911">
      <Terms xmlns="http://schemas.microsoft.com/office/infopath/2007/PartnerControls"/>
    </lcf76f155ced4ddcb4097134ff3c332f>
    <Remarks xmlns="1cf3cc67-8aff-41b7-90ef-e2ab2d63d911" xsi:nil="true"/>
    <SharedWithUsers xmlns="a6b81bd6-1ff5-4a6b-b593-c2bd8dbf5cc5">
      <UserInfo>
        <DisplayName>Foram Modi - VerdeMobility</DisplayName>
        <AccountId>1269</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2766D8FF8EF6A43AAAB227A72B3B837" ma:contentTypeVersion="19" ma:contentTypeDescription="Create a new document." ma:contentTypeScope="" ma:versionID="ebdf2b9a2d38640f2784c32b22416873">
  <xsd:schema xmlns:xsd="http://www.w3.org/2001/XMLSchema" xmlns:xs="http://www.w3.org/2001/XMLSchema" xmlns:p="http://schemas.microsoft.com/office/2006/metadata/properties" xmlns:ns2="1cf3cc67-8aff-41b7-90ef-e2ab2d63d911" xmlns:ns3="a6b81bd6-1ff5-4a6b-b593-c2bd8dbf5cc5" targetNamespace="http://schemas.microsoft.com/office/2006/metadata/properties" ma:root="true" ma:fieldsID="15d2f2bdb9dc5c700171f155340257de" ns2:_="" ns3:_="">
    <xsd:import namespace="1cf3cc67-8aff-41b7-90ef-e2ab2d63d911"/>
    <xsd:import namespace="a6b81bd6-1ff5-4a6b-b593-c2bd8dbf5cc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Remark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f3cc67-8aff-41b7-90ef-e2ab2d63d9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3091d1-3b46-4500-9f97-f864df0ab119"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Remarks" ma:index="24" nillable="true" ma:displayName="Remarks" ma:internalName="Remarks">
      <xsd:simpleType>
        <xsd:restriction base="dms:Text">
          <xsd:maxLength value="255"/>
        </xsd:restriction>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6b81bd6-1ff5-4a6b-b593-c2bd8dbf5cc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efa2091-358a-413f-8dca-7447974031df}" ma:internalName="TaxCatchAll" ma:showField="CatchAllData" ma:web="a6b81bd6-1ff5-4a6b-b593-c2bd8dbf5cc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262331-73BE-4D72-86E2-CDA820675C64}">
  <ds:schemaRefs>
    <ds:schemaRef ds:uri="http://schemas.microsoft.com/sharepoint/v3/contenttype/forms"/>
  </ds:schemaRefs>
</ds:datastoreItem>
</file>

<file path=customXml/itemProps2.xml><?xml version="1.0" encoding="utf-8"?>
<ds:datastoreItem xmlns:ds="http://schemas.openxmlformats.org/officeDocument/2006/customXml" ds:itemID="{212DA5D4-CFF2-417B-86A9-F52630DB1494}">
  <ds:schemaRefs>
    <ds:schemaRef ds:uri="1cf3cc67-8aff-41b7-90ef-e2ab2d63d911"/>
    <ds:schemaRef ds:uri="a6b81bd6-1ff5-4a6b-b593-c2bd8dbf5cc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418B897-E939-4B50-8F33-73727AA5B6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cf3cc67-8aff-41b7-90ef-e2ab2d63d911"/>
    <ds:schemaRef ds:uri="a6b81bd6-1ff5-4a6b-b593-c2bd8dbf5c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16</Slides>
  <Notes>0</Notes>
  <HiddenSlides>1</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176</cp:revision>
  <dcterms:created xsi:type="dcterms:W3CDTF">2023-03-29T08:44:20Z</dcterms:created>
  <dcterms:modified xsi:type="dcterms:W3CDTF">2026-04-21T06:17:03Z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0x01010002766D8FF8EF6A43AAAB227A72B3B837</vt:lpwstr>
  </property>
  <property fmtid="{D5CDD505-2E9C-101B-9397-08002B2CF9AE}" pid="3" name="MediaServiceImageTags">
    <vt:lpwstr/>
  </property>
</Properties>
</file>